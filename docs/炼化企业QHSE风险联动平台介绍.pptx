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3a4b5f180f476e" /><Relationship Type="http://schemas.openxmlformats.org/officeDocument/2006/relationships/extended-properties" Target="/docProps/app.xml" Id="Rf4be1337ee0a431c" /><Relationship Type="http://schemas.openxmlformats.org/officeDocument/2006/relationships/officeDocument" Target="/ppt/presentation.xml" Id="R2f07838ad1bf42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bf3b5ca78f41ca"/>
  </p:sldMasterIdLst>
  <p:notesMasterIdLst>
    <p:notesMasterId xmlns:r="http://schemas.openxmlformats.org/officeDocument/2006/relationships" r:id="R1385fc307b5346de"/>
  </p:notesMasterIdLst>
  <p:sldIdLst>
    <p:sldId xmlns:r="http://schemas.openxmlformats.org/officeDocument/2006/relationships" id="256" r:id="Rdefc189a20cd487f"/>
    <p:sldId xmlns:r="http://schemas.openxmlformats.org/officeDocument/2006/relationships" id="257" r:id="Rac89c7500ac94a3e"/>
    <p:sldId xmlns:r="http://schemas.openxmlformats.org/officeDocument/2006/relationships" id="258" r:id="R6a90ea55c53743ee"/>
    <p:sldId xmlns:r="http://schemas.openxmlformats.org/officeDocument/2006/relationships" id="259" r:id="R6a74d424173349df"/>
    <p:sldId xmlns:r="http://schemas.openxmlformats.org/officeDocument/2006/relationships" id="260" r:id="R5dd18d6cd159423e"/>
    <p:sldId xmlns:r="http://schemas.openxmlformats.org/officeDocument/2006/relationships" id="261" r:id="Rff53cdbf89e94b80"/>
    <p:sldId xmlns:r="http://schemas.openxmlformats.org/officeDocument/2006/relationships" id="262" r:id="Rcc501c31761c4dba"/>
    <p:sldId xmlns:r="http://schemas.openxmlformats.org/officeDocument/2006/relationships" id="263" r:id="R2bbdfcaed5f849dd"/>
    <p:sldId xmlns:r="http://schemas.openxmlformats.org/officeDocument/2006/relationships" id="264" r:id="R67fb6920922d456d"/>
    <p:sldId xmlns:r="http://schemas.openxmlformats.org/officeDocument/2006/relationships" id="265" r:id="R85816e5a93f14432"/>
    <p:sldId xmlns:r="http://schemas.openxmlformats.org/officeDocument/2006/relationships" id="266" r:id="R3c137f6791f54dc7"/>
    <p:sldId xmlns:r="http://schemas.openxmlformats.org/officeDocument/2006/relationships" id="267" r:id="R80b6ff81991d4d21"/>
    <p:sldId xmlns:r="http://schemas.openxmlformats.org/officeDocument/2006/relationships" id="268" r:id="R0a00be78d7114f7a"/>
    <p:sldId xmlns:r="http://schemas.openxmlformats.org/officeDocument/2006/relationships" id="269" r:id="R7432a0b97c5a4d6d"/>
    <p:sldId xmlns:r="http://schemas.openxmlformats.org/officeDocument/2006/relationships" id="270" r:id="Rdb33418d8f8d41c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03d590b09044de" /><Relationship Type="http://schemas.openxmlformats.org/officeDocument/2006/relationships/slideMaster" Target="/ppt/slideMasters/slideMaster1.xml" Id="R53bf3b5ca78f41ca" /><Relationship Type="http://schemas.openxmlformats.org/officeDocument/2006/relationships/notesMaster" Target="/ppt/notesMasters/notesMaster1.xml" Id="R1385fc307b5346de" /><Relationship Type="http://schemas.openxmlformats.org/officeDocument/2006/relationships/presProps" Target="/ppt/presProps.xml" Id="Ra0d3c15444f84c31" /><Relationship Type="http://schemas.openxmlformats.org/officeDocument/2006/relationships/tableStyles" Target="/ppt/tableStyles.xml" Id="R8fb5f5c38a194009" /><Relationship Type="http://schemas.openxmlformats.org/officeDocument/2006/relationships/slide" Target="/ppt/slides/slide1.xml" Id="Rdefc189a20cd487f" /><Relationship Type="http://schemas.openxmlformats.org/officeDocument/2006/relationships/slide" Target="/ppt/slides/slide2.xml" Id="Rac89c7500ac94a3e" /><Relationship Type="http://schemas.openxmlformats.org/officeDocument/2006/relationships/slide" Target="/ppt/slides/slide3.xml" Id="R6a90ea55c53743ee" /><Relationship Type="http://schemas.openxmlformats.org/officeDocument/2006/relationships/slide" Target="/ppt/slides/slide4.xml" Id="R6a74d424173349df" /><Relationship Type="http://schemas.openxmlformats.org/officeDocument/2006/relationships/slide" Target="/ppt/slides/slide5.xml" Id="R5dd18d6cd159423e" /><Relationship Type="http://schemas.openxmlformats.org/officeDocument/2006/relationships/slide" Target="/ppt/slides/slide6.xml" Id="Rff53cdbf89e94b80" /><Relationship Type="http://schemas.openxmlformats.org/officeDocument/2006/relationships/slide" Target="/ppt/slides/slide7.xml" Id="Rcc501c31761c4dba" /><Relationship Type="http://schemas.openxmlformats.org/officeDocument/2006/relationships/slide" Target="/ppt/slides/slide8.xml" Id="R2bbdfcaed5f849dd" /><Relationship Type="http://schemas.openxmlformats.org/officeDocument/2006/relationships/slide" Target="/ppt/slides/slide9.xml" Id="R67fb6920922d456d" /><Relationship Type="http://schemas.openxmlformats.org/officeDocument/2006/relationships/slide" Target="/ppt/slides/slide10.xml" Id="R85816e5a93f14432" /><Relationship Type="http://schemas.openxmlformats.org/officeDocument/2006/relationships/slide" Target="/ppt/slides/slide11.xml" Id="R3c137f6791f54dc7" /><Relationship Type="http://schemas.openxmlformats.org/officeDocument/2006/relationships/slide" Target="/ppt/slides/slide12.xml" Id="R80b6ff81991d4d21" /><Relationship Type="http://schemas.openxmlformats.org/officeDocument/2006/relationships/slide" Target="/ppt/slides/slide13.xml" Id="R0a00be78d7114f7a" /><Relationship Type="http://schemas.openxmlformats.org/officeDocument/2006/relationships/slide" Target="/ppt/slides/slide14.xml" Id="R7432a0b97c5a4d6d" /><Relationship Type="http://schemas.openxmlformats.org/officeDocument/2006/relationships/slide" Target="/ppt/slides/slide15.xml" Id="Rdb33418d8f8d41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6f46c7c10048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e1ef1ae4504589" /><Relationship Type="http://schemas.openxmlformats.org/officeDocument/2006/relationships/notesMaster" Target="/ppt/notesMasters/notesMaster1.xml" Id="R073c288e33b74c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b1779e77104d95" /><Relationship Type="http://schemas.openxmlformats.org/officeDocument/2006/relationships/notesMaster" Target="/ppt/notesMasters/notesMaster1.xml" Id="R07d5e5577b5548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93644e4e7f43be" /><Relationship Type="http://schemas.openxmlformats.org/officeDocument/2006/relationships/notesMaster" Target="/ppt/notesMasters/notesMaster1.xml" Id="R1500d5f6608649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a9047dfc1b4824" /><Relationship Type="http://schemas.openxmlformats.org/officeDocument/2006/relationships/notesMaster" Target="/ppt/notesMasters/notesMaster1.xml" Id="R9de50bf360df4f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fdeeec30d940b9" /><Relationship Type="http://schemas.openxmlformats.org/officeDocument/2006/relationships/notesMaster" Target="/ppt/notesMasters/notesMaster1.xml" Id="R2db3d551f0e343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f24632654848e6" /><Relationship Type="http://schemas.openxmlformats.org/officeDocument/2006/relationships/notesMaster" Target="/ppt/notesMasters/notesMaster1.xml" Id="Rec65adb0cb9d42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108a3502964efc" /><Relationship Type="http://schemas.openxmlformats.org/officeDocument/2006/relationships/notesMaster" Target="/ppt/notesMasters/notesMaster1.xml" Id="R586aa893a36340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a5adadc1f04ca2" /><Relationship Type="http://schemas.openxmlformats.org/officeDocument/2006/relationships/notesMaster" Target="/ppt/notesMasters/notesMaster1.xml" Id="Ra42af9966d9d47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1554d6a86a4d57" /><Relationship Type="http://schemas.openxmlformats.org/officeDocument/2006/relationships/notesMaster" Target="/ppt/notesMasters/notesMaster1.xml" Id="Rbc72b4e050e74f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c7d8a39f3c452a" /><Relationship Type="http://schemas.openxmlformats.org/officeDocument/2006/relationships/notesMaster" Target="/ppt/notesMasters/notesMaster1.xml" Id="R290f2e7761fd45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9ec9f698804b64" /><Relationship Type="http://schemas.openxmlformats.org/officeDocument/2006/relationships/notesMaster" Target="/ppt/notesMasters/notesMaster1.xml" Id="Re0d3b9b43beb4d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d0f784b6fb44f8" /><Relationship Type="http://schemas.openxmlformats.org/officeDocument/2006/relationships/notesMaster" Target="/ppt/notesMasters/notesMaster1.xml" Id="Rf679d019fc114a6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04c4c068e747f7" /><Relationship Type="http://schemas.openxmlformats.org/officeDocument/2006/relationships/notesMaster" Target="/ppt/notesMasters/notesMaster1.xml" Id="Rea19edd5ff914b6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2f179915ff34b2a" /><Relationship Type="http://schemas.openxmlformats.org/officeDocument/2006/relationships/notesMaster" Target="/ppt/notesMasters/notesMaster1.xml" Id="R93f9d7087d9b44c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58aa209328d42c2" /><Relationship Type="http://schemas.openxmlformats.org/officeDocument/2006/relationships/notesMaster" Target="/ppt/notesMasters/notesMaster1.xml" Id="R72abd89674bd44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ed4f5de4924f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7000f7b9e34599" /><Relationship Type="http://schemas.openxmlformats.org/officeDocument/2006/relationships/slideLayout" Target="/ppt/slideLayouts/slideLayout1.xml" Id="R34681cab60a143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681cab60a143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730d420474a27" /><Relationship Type="http://schemas.openxmlformats.org/officeDocument/2006/relationships/notesSlide" Target="/ppt/notesSlides/notesSlide1.xml" Id="R49eeafb1e7bc4e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d20eca555401f" /><Relationship Type="http://schemas.openxmlformats.org/officeDocument/2006/relationships/notesSlide" Target="/ppt/notesSlides/notesSlide2.xml" Id="Rcf190910edfc4c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2d2a5a07b48e1" /><Relationship Type="http://schemas.openxmlformats.org/officeDocument/2006/relationships/image" Target="/ppt/media/image.png" Id="R3c2fe0f4c5a24bbf" /><Relationship Type="http://schemas.openxmlformats.org/officeDocument/2006/relationships/notesSlide" Target="/ppt/notesSlides/notesSlide3.xml" Id="R749b9d7935f944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17ff27f024264" /><Relationship Type="http://schemas.openxmlformats.org/officeDocument/2006/relationships/notesSlide" Target="/ppt/notesSlides/notesSlide4.xml" Id="R200c3a9b19d646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a79bbe7e94c3c" /><Relationship Type="http://schemas.openxmlformats.org/officeDocument/2006/relationships/notesSlide" Target="/ppt/notesSlides/notesSlide5.xml" Id="Rf679a246758b4b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1e67225db4163" /><Relationship Type="http://schemas.openxmlformats.org/officeDocument/2006/relationships/image" Target="/ppt/media/image2.png" Id="Rd7910431097149c3" /><Relationship Type="http://schemas.openxmlformats.org/officeDocument/2006/relationships/notesSlide" Target="/ppt/notesSlides/notesSlide6.xml" Id="Rd471ec11440c4f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40022f5fd45bc" /><Relationship Type="http://schemas.openxmlformats.org/officeDocument/2006/relationships/notesSlide" Target="/ppt/notesSlides/notesSlide7.xml" Id="Rb8bcc414eb824b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1cc06e53f4ab2" /><Relationship Type="http://schemas.openxmlformats.org/officeDocument/2006/relationships/image" Target="/ppt/media/image3.png" Id="Rdf1e1dab74d24511" /><Relationship Type="http://schemas.openxmlformats.org/officeDocument/2006/relationships/notesSlide" Target="/ppt/notesSlides/notesSlide8.xml" Id="R44930a3fff5649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3ec8df29d4d24" /><Relationship Type="http://schemas.openxmlformats.org/officeDocument/2006/relationships/image" Target="/ppt/media/image4.png" Id="R91bd9e2f151c403a" /><Relationship Type="http://schemas.openxmlformats.org/officeDocument/2006/relationships/notesSlide" Target="/ppt/notesSlides/notesSlide9.xml" Id="R24f4c5c58ffa48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466a02d2141f6" /><Relationship Type="http://schemas.openxmlformats.org/officeDocument/2006/relationships/image" Target="/ppt/media/image5.png" Id="R1bdf05f6ef18400e" /><Relationship Type="http://schemas.openxmlformats.org/officeDocument/2006/relationships/notesSlide" Target="/ppt/notesSlides/notesSlide10.xml" Id="R204d77912df74e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9126691a14df1" /><Relationship Type="http://schemas.openxmlformats.org/officeDocument/2006/relationships/notesSlide" Target="/ppt/notesSlides/notesSlide11.xml" Id="R444b6553c09b4a7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1e4efc44940d7" /><Relationship Type="http://schemas.openxmlformats.org/officeDocument/2006/relationships/notesSlide" Target="/ppt/notesSlides/notesSlide12.xml" Id="R01f4394f7b1d495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53a8fea844d28" /><Relationship Type="http://schemas.openxmlformats.org/officeDocument/2006/relationships/notesSlide" Target="/ppt/notesSlides/notesSlide13.xml" Id="Rec256f95c5644d6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8090283d04038" /><Relationship Type="http://schemas.openxmlformats.org/officeDocument/2006/relationships/notesSlide" Target="/ppt/notesSlides/notesSlide14.xml" Id="Rb2e58de32c02491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091a76c534ce5" /><Relationship Type="http://schemas.openxmlformats.org/officeDocument/2006/relationships/notesSlide" Target="/ppt/notesSlides/notesSlide15.xml" Id="R8d5a1c17c12744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35E2FF19-0FC7-4A93-A642-A48633DF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grid-1">
            <a:extLst xmlns:a="http://schemas.openxmlformats.org/drawingml/2006/main">
              <a:ext uri="{FF2B5EF4-FFF2-40B4-BE49-F238E27FC236}">
                <a16:creationId xmlns:a16="http://schemas.microsoft.com/office/drawing/2014/main" id="{0C89EEDA-8B0F-402D-B60B-07CE6C58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357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grid-2">
            <a:extLst xmlns:a="http://schemas.openxmlformats.org/drawingml/2006/main">
              <a:ext uri="{FF2B5EF4-FFF2-40B4-BE49-F238E27FC236}">
                <a16:creationId xmlns:a16="http://schemas.microsoft.com/office/drawing/2014/main" id="{AA4FEB2E-31F0-4221-B3A2-69AD5619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35718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grid-3">
            <a:extLst xmlns:a="http://schemas.openxmlformats.org/drawingml/2006/main">
              <a:ext uri="{FF2B5EF4-FFF2-40B4-BE49-F238E27FC236}">
                <a16:creationId xmlns:a16="http://schemas.microsoft.com/office/drawing/2014/main" id="{FB297A83-A260-42BC-99FA-3282510F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809750"/>
            <a:ext cx="17907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grid-4">
            <a:extLst xmlns:a="http://schemas.openxmlformats.org/drawingml/2006/main">
              <a:ext uri="{FF2B5EF4-FFF2-40B4-BE49-F238E27FC236}">
                <a16:creationId xmlns:a16="http://schemas.microsoft.com/office/drawing/2014/main" id="{B8B7EAE2-B530-47DB-A4BD-8E55EB34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600450"/>
            <a:ext cx="17811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grid-5">
            <a:extLst xmlns:a="http://schemas.openxmlformats.org/drawingml/2006/main">
              <a:ext uri="{FF2B5EF4-FFF2-40B4-BE49-F238E27FC236}">
                <a16:creationId xmlns:a16="http://schemas.microsoft.com/office/drawing/2014/main" id="{6A2B8AD9-5457-4E1A-A8FF-C099B552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219700"/>
            <a:ext cx="17907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60BDDD6-96F1-4B7F-9791-4A6815FB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QHSE DIGITAL SOLUTION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088CB85-BFAB-46F6-81A4-039F93E0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7239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炼化企业 QHSE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风险联动平台</a:t>
            </a:r>
          </a:p>
        </p:txBody>
      </p:sp>
      <p:sp>
        <p:nvSpPr>
          <p:cNvPr id="9" name="cover-rule">
            <a:extLst xmlns:a="http://schemas.openxmlformats.org/drawingml/2006/main">
              <a:ext uri="{FF2B5EF4-FFF2-40B4-BE49-F238E27FC236}">
                <a16:creationId xmlns:a16="http://schemas.microsoft.com/office/drawing/2014/main" id="{C8EB90A7-D742-4A25-B62D-007D6A30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672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1220"/>
            </a:solidFill>
            <a:prstDash val="solid"/>
          </a:ln>
        </p:spPr>
      </p:sp>
      <p:sp>
        <p:nvSpPr>
          <p:cNvPr id="10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4366724-0FA4-4B02-9002-CE43F974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项目介绍与建设方案 · 交流版</a:t>
            </a:r>
          </a:p>
        </p:txBody>
      </p:sp>
      <p:sp>
        <p:nvSpPr>
          <p:cNvPr id="11" name="cover-value">
            <a:extLst xmlns:a="http://schemas.openxmlformats.org/drawingml/2006/main">
              <a:ext uri="{FF2B5EF4-FFF2-40B4-BE49-F238E27FC236}">
                <a16:creationId xmlns:a16="http://schemas.microsoft.com/office/drawing/2014/main" id="{2FFAE2B4-69C0-48F6-9B0F-6E70B8D6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风险预控 · 多源预警 · 应急协同 · 闭环治理</a:t>
            </a:r>
          </a:p>
        </p:txBody>
      </p:sp>
      <p:sp>
        <p:nvSpPr>
          <p:cNvPr id="12" name="cover-note">
            <a:extLst xmlns:a="http://schemas.openxmlformats.org/drawingml/2006/main">
              <a:ext uri="{FF2B5EF4-FFF2-40B4-BE49-F238E27FC236}">
                <a16:creationId xmlns:a16="http://schemas.microsoft.com/office/drawing/2014/main" id="{CA83F193-1689-4F9E-8F97-DC64239D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基于现有系统原型形成的甲方交流材料</a:t>
            </a:r>
          </a:p>
        </p:txBody>
      </p:sp>
    </p:spTree>
    <p:extLst>
      <p:ext uri="{BB962C8B-B14F-4D97-AF65-F5344CB8AC3E}">
        <p14:creationId xmlns:p14="http://schemas.microsoft.com/office/powerpoint/2010/main" val="15952925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dot-01 / 项目判断">
            <a:extLst xmlns:a="http://schemas.openxmlformats.org/drawingml/2006/main">
              <a:ext uri="{FF2B5EF4-FFF2-40B4-BE49-F238E27FC236}">
                <a16:creationId xmlns:a16="http://schemas.microsoft.com/office/drawing/2014/main" id="{52F0AA26-3CBC-4E89-913B-C8AB1BC7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01 / 项目判断">
            <a:extLst xmlns:a="http://schemas.openxmlformats.org/drawingml/2006/main">
              <a:ext uri="{FF2B5EF4-FFF2-40B4-BE49-F238E27FC236}">
                <a16:creationId xmlns:a16="http://schemas.microsoft.com/office/drawing/2014/main" id="{AB29D8FC-BB07-404B-A3D9-22C8F3A3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01 / 项目判断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F5927F56-869B-4EB0-939D-6B512287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当前管理难点不在缺少系统，而在数据与流程没有形成闭环</a:t>
            </a:r>
          </a:p>
        </p:txBody>
      </p:sp>
      <p:sp>
        <p:nvSpPr>
          <p:cNvPr id="4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C51C82BA-4B53-449E-96CF-B0C39334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5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FAB583E8-B1E6-4168-AEF1-F0AF2A17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项目交流版 · 基于现有系统原型</a:t>
            </a:r>
          </a:p>
        </p:txBody>
      </p:sp>
      <p:sp>
        <p:nvSpPr>
          <p:cNvPr id="6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08242F43-B155-4533-8693-F22E3262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challenge-statement">
            <a:extLst xmlns:a="http://schemas.openxmlformats.org/drawingml/2006/main">
              <a:ext uri="{FF2B5EF4-FFF2-40B4-BE49-F238E27FC236}">
                <a16:creationId xmlns:a16="http://schemas.microsoft.com/office/drawing/2014/main" id="{2358B235-B78A-4F84-8091-7325D32E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监测、风险、票证、预警与应急各自可用，但跨系统关联仍依赖人工判断。</a:t>
            </a:r>
          </a:p>
        </p:txBody>
      </p:sp>
      <p:sp>
        <p:nvSpPr>
          <p:cNvPr id="8" name="challenge-card-0">
            <a:extLst xmlns:a="http://schemas.openxmlformats.org/drawingml/2006/main">
              <a:ext uri="{FF2B5EF4-FFF2-40B4-BE49-F238E27FC236}">
                <a16:creationId xmlns:a16="http://schemas.microsoft.com/office/drawing/2014/main" id="{39142386-F28A-4E2A-ABBA-7C03BDD9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3200400" cy="2590800"/>
          </a:xfrm>
          <a:prstGeom xmlns:a="http://schemas.openxmlformats.org/drawingml/2006/main" prst="roundRect">
            <a:avLst>
              <a:gd name="adj" fmla="val 661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hallenge-no-0">
            <a:extLst xmlns:a="http://schemas.openxmlformats.org/drawingml/2006/main">
              <a:ext uri="{FF2B5EF4-FFF2-40B4-BE49-F238E27FC236}">
                <a16:creationId xmlns:a16="http://schemas.microsoft.com/office/drawing/2014/main" id="{27415402-B22E-4E9E-AB6C-40BDCB7F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62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0" name="challenge-title-0">
            <a:extLst xmlns:a="http://schemas.openxmlformats.org/drawingml/2006/main">
              <a:ext uri="{FF2B5EF4-FFF2-40B4-BE49-F238E27FC236}">
                <a16:creationId xmlns:a16="http://schemas.microsoft.com/office/drawing/2014/main" id="{B49DBC08-5799-48BC-9C3D-45CAA65A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信息割裂</a:t>
            </a:r>
          </a:p>
        </p:txBody>
      </p:sp>
      <p:sp>
        <p:nvSpPr>
          <p:cNvPr id="11" name="challenge-rule-0">
            <a:extLst xmlns:a="http://schemas.openxmlformats.org/drawingml/2006/main">
              <a:ext uri="{FF2B5EF4-FFF2-40B4-BE49-F238E27FC236}">
                <a16:creationId xmlns:a16="http://schemas.microsoft.com/office/drawing/2014/main" id="{79F536C2-3A3C-476D-958C-46425E3E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270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2" name="challenge-desc-0">
            <a:extLst xmlns:a="http://schemas.openxmlformats.org/drawingml/2006/main">
              <a:ext uri="{FF2B5EF4-FFF2-40B4-BE49-F238E27FC236}">
                <a16:creationId xmlns:a16="http://schemas.microsoft.com/office/drawing/2014/main" id="{4FB77B7D-E649-4541-A5F6-34C39D6C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24375"/>
            <a:ext cx="2686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GDS、VOC、MES 与业务台账口径分散，难以用统一对象关联监测证据。</a:t>
            </a:r>
          </a:p>
        </p:txBody>
      </p:sp>
      <p:sp>
        <p:nvSpPr>
          <p:cNvPr id="13" name="challenge-card-1">
            <a:extLst xmlns:a="http://schemas.openxmlformats.org/drawingml/2006/main">
              <a:ext uri="{FF2B5EF4-FFF2-40B4-BE49-F238E27FC236}">
                <a16:creationId xmlns:a16="http://schemas.microsoft.com/office/drawing/2014/main" id="{FDEE40C6-2BBE-41FD-B24D-E90BA9E3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3200400" cy="2590800"/>
          </a:xfrm>
          <a:prstGeom xmlns:a="http://schemas.openxmlformats.org/drawingml/2006/main" prst="roundRect">
            <a:avLst>
              <a:gd name="adj" fmla="val 661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allenge-no-1">
            <a:extLst xmlns:a="http://schemas.openxmlformats.org/drawingml/2006/main">
              <a:ext uri="{FF2B5EF4-FFF2-40B4-BE49-F238E27FC236}">
                <a16:creationId xmlns:a16="http://schemas.microsoft.com/office/drawing/2014/main" id="{60724911-D0EB-41AE-BE59-D2461202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62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5" name="challenge-title-1">
            <a:extLst xmlns:a="http://schemas.openxmlformats.org/drawingml/2006/main">
              <a:ext uri="{FF2B5EF4-FFF2-40B4-BE49-F238E27FC236}">
                <a16:creationId xmlns:a16="http://schemas.microsoft.com/office/drawing/2014/main" id="{479AF8EB-139C-4C07-9159-ADBE688B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957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流程断点</a:t>
            </a:r>
          </a:p>
        </p:txBody>
      </p:sp>
      <p:sp>
        <p:nvSpPr>
          <p:cNvPr id="16" name="challenge-rule-1">
            <a:extLst xmlns:a="http://schemas.openxmlformats.org/drawingml/2006/main">
              <a:ext uri="{FF2B5EF4-FFF2-40B4-BE49-F238E27FC236}">
                <a16:creationId xmlns:a16="http://schemas.microsoft.com/office/drawing/2014/main" id="{66CDD5DF-C536-40F9-B4F6-86CE9933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86250"/>
            <a:ext cx="270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7" name="challenge-desc-1">
            <a:extLst xmlns:a="http://schemas.openxmlformats.org/drawingml/2006/main">
              <a:ext uri="{FF2B5EF4-FFF2-40B4-BE49-F238E27FC236}">
                <a16:creationId xmlns:a16="http://schemas.microsoft.com/office/drawing/2014/main" id="{14282C22-9DC1-4313-BFAE-9BE9A76A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24375"/>
            <a:ext cx="2686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整改、审批、确认和关闭缺少统一状态链，跨部门协作依赖线下跟进。</a:t>
            </a:r>
          </a:p>
        </p:txBody>
      </p:sp>
      <p:sp>
        <p:nvSpPr>
          <p:cNvPr id="18" name="challenge-card-2">
            <a:extLst xmlns:a="http://schemas.openxmlformats.org/drawingml/2006/main">
              <a:ext uri="{FF2B5EF4-FFF2-40B4-BE49-F238E27FC236}">
                <a16:creationId xmlns:a16="http://schemas.microsoft.com/office/drawing/2014/main" id="{830813DA-915F-44F3-A89A-40CB5FC9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33700"/>
            <a:ext cx="3200400" cy="2590800"/>
          </a:xfrm>
          <a:prstGeom xmlns:a="http://schemas.openxmlformats.org/drawingml/2006/main" prst="roundRect">
            <a:avLst>
              <a:gd name="adj" fmla="val 661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hallenge-no-2">
            <a:extLst xmlns:a="http://schemas.openxmlformats.org/drawingml/2006/main">
              <a:ext uri="{FF2B5EF4-FFF2-40B4-BE49-F238E27FC236}">
                <a16:creationId xmlns:a16="http://schemas.microsoft.com/office/drawing/2014/main" id="{974C23DB-1B6A-4E8B-B936-C7C684AF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62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0" name="challenge-title-2">
            <a:extLst xmlns:a="http://schemas.openxmlformats.org/drawingml/2006/main">
              <a:ext uri="{FF2B5EF4-FFF2-40B4-BE49-F238E27FC236}">
                <a16:creationId xmlns:a16="http://schemas.microsoft.com/office/drawing/2014/main" id="{9A0A52E7-5607-48E1-B9FC-4518E81D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957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协同与追溯</a:t>
            </a:r>
          </a:p>
        </p:txBody>
      </p:sp>
      <p:sp>
        <p:nvSpPr>
          <p:cNvPr id="21" name="challenge-rule-2">
            <a:extLst xmlns:a="http://schemas.openxmlformats.org/drawingml/2006/main">
              <a:ext uri="{FF2B5EF4-FFF2-40B4-BE49-F238E27FC236}">
                <a16:creationId xmlns:a16="http://schemas.microsoft.com/office/drawing/2014/main" id="{4FCEF2E0-1663-406B-8D08-C937FB7B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86250"/>
            <a:ext cx="270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22" name="challenge-desc-2">
            <a:extLst xmlns:a="http://schemas.openxmlformats.org/drawingml/2006/main">
              <a:ext uri="{FF2B5EF4-FFF2-40B4-BE49-F238E27FC236}">
                <a16:creationId xmlns:a16="http://schemas.microsoft.com/office/drawing/2014/main" id="{464F3A01-BA71-43E5-8EE4-96EF0D36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24375"/>
            <a:ext cx="2686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事件通知、资源调度、证据归档难以同屏联动，事后还原成本高。</a:t>
            </a:r>
          </a:p>
        </p:txBody>
      </p:sp>
    </p:spTree>
    <p:extLst>
      <p:ext uri="{BB962C8B-B14F-4D97-AF65-F5344CB8AC3E}">
        <p14:creationId xmlns:p14="http://schemas.microsoft.com/office/powerpoint/2010/main" val="10896425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dot-02 / 建设主张">
            <a:extLst xmlns:a="http://schemas.openxmlformats.org/drawingml/2006/main">
              <a:ext uri="{FF2B5EF4-FFF2-40B4-BE49-F238E27FC236}">
                <a16:creationId xmlns:a16="http://schemas.microsoft.com/office/drawing/2014/main" id="{973011D1-9BDE-4EA0-947B-C40F562D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02 / 建设主张">
            <a:extLst xmlns:a="http://schemas.openxmlformats.org/drawingml/2006/main">
              <a:ext uri="{FF2B5EF4-FFF2-40B4-BE49-F238E27FC236}">
                <a16:creationId xmlns:a16="http://schemas.microsoft.com/office/drawing/2014/main" id="{32243603-01B6-4564-9059-14A977AD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02 / 建设主张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F258AAB8-2E5F-48AC-B982-26A9FDAD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6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建设重点是把可验证原型升级为可持续运行的企业级平台</a:t>
            </a:r>
          </a:p>
        </p:txBody>
      </p:sp>
      <p:sp>
        <p:nvSpPr>
          <p:cNvPr id="4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24A359C4-822F-44A6-AF92-6D706B6B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5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EBE6FC52-D3E5-4F55-B247-21C78B41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项目交流版 · 基于现有系统原型</a:t>
            </a:r>
          </a:p>
        </p:txBody>
      </p:sp>
      <p:sp>
        <p:nvSpPr>
          <p:cNvPr id="6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F07CC6A5-E7BF-442E-BB0C-71186B08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7" name="prototype-label">
            <a:extLst xmlns:a="http://schemas.openxmlformats.org/drawingml/2006/main">
              <a:ext uri="{FF2B5EF4-FFF2-40B4-BE49-F238E27FC236}">
                <a16:creationId xmlns:a16="http://schemas.microsoft.com/office/drawing/2014/main" id="{B579152A-FF5C-4E40-A944-8BE7C0FC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7813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现有系统已具备完整业务演示链路</a:t>
            </a:r>
          </a:p>
        </p:txBody>
      </p:sp>
      <p:sp>
        <p:nvSpPr>
          <p:cNvPr id="8" name="prototype-current-title">
            <a:extLst xmlns:a="http://schemas.openxmlformats.org/drawingml/2006/main">
              <a:ext uri="{FF2B5EF4-FFF2-40B4-BE49-F238E27FC236}">
                <a16:creationId xmlns:a16="http://schemas.microsoft.com/office/drawing/2014/main" id="{A2992528-1A6D-4A09-A235-1D236CF6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当前基础</a:t>
            </a:r>
          </a:p>
        </p:txBody>
      </p:sp>
      <p:sp>
        <p:nvSpPr>
          <p:cNvPr id="9" name="prototype-current">
            <a:extLst xmlns:a="http://schemas.openxmlformats.org/drawingml/2006/main">
              <a:ext uri="{FF2B5EF4-FFF2-40B4-BE49-F238E27FC236}">
                <a16:creationId xmlns:a16="http://schemas.microsoft.com/office/drawing/2014/main" id="{83A7CC92-BA10-4B84-87F3-304BD0DC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驾驶舱、展示大屏、风险、隐患、许可、预警、应急、复盘</a:t>
            </a:r>
          </a:p>
        </p:txBody>
      </p:sp>
      <p:sp>
        <p:nvSpPr>
          <p:cNvPr id="10" name="prototype-build-title">
            <a:extLst xmlns:a="http://schemas.openxmlformats.org/drawingml/2006/main">
              <a:ext uri="{FF2B5EF4-FFF2-40B4-BE49-F238E27FC236}">
                <a16:creationId xmlns:a16="http://schemas.microsoft.com/office/drawing/2014/main" id="{F80A3844-964A-418A-8AEB-1771E824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生产化补齐</a:t>
            </a:r>
          </a:p>
        </p:txBody>
      </p:sp>
      <p:sp>
        <p:nvSpPr>
          <p:cNvPr id="11" name="prototype-build">
            <a:extLst xmlns:a="http://schemas.openxmlformats.org/drawingml/2006/main">
              <a:ext uri="{FF2B5EF4-FFF2-40B4-BE49-F238E27FC236}">
                <a16:creationId xmlns:a16="http://schemas.microsoft.com/office/drawing/2014/main" id="{F2C5CD9D-1D67-4CD7-9476-741E58B9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371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后端服务、数据库、权限与流程待办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文件证据、审计、实时接口和运维能力</a:t>
            </a:r>
          </a:p>
        </p:txBody>
      </p:sp>
      <p:sp>
        <p:nvSpPr>
          <p:cNvPr id="12" name="prototype-principle-bar">
            <a:extLst xmlns:a="http://schemas.openxmlformats.org/drawingml/2006/main">
              <a:ext uri="{FF2B5EF4-FFF2-40B4-BE49-F238E27FC236}">
                <a16:creationId xmlns:a16="http://schemas.microsoft.com/office/drawing/2014/main" id="{2AA19939-5467-4872-98B7-E6D312ED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3714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ototype-principle">
            <a:extLst xmlns:a="http://schemas.openxmlformats.org/drawingml/2006/main">
              <a:ext uri="{FF2B5EF4-FFF2-40B4-BE49-F238E27FC236}">
                <a16:creationId xmlns:a16="http://schemas.microsoft.com/office/drawing/2014/main" id="{9106FE74-6CEB-474D-AE39-43E55BA1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建设原则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业务规则由甲方确认，前端界面不替代生产制度</a:t>
            </a:r>
          </a:p>
        </p:txBody>
      </p:sp>
      <p:sp>
        <p:nvSpPr>
          <p:cNvPr id="14" name="dashboard-frame">
            <a:extLst xmlns:a="http://schemas.openxmlformats.org/drawingml/2006/main">
              <a:ext uri="{FF2B5EF4-FFF2-40B4-BE49-F238E27FC236}">
                <a16:creationId xmlns:a16="http://schemas.microsoft.com/office/drawing/2014/main" id="{249A9324-8755-48F5-BD4B-77E69066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38350"/>
            <a:ext cx="6648450" cy="3962400"/>
          </a:xfrm>
          <a:prstGeom xmlns:a="http://schemas.openxmlformats.org/drawingml/2006/main" prst="roundRect">
            <a:avLst>
              <a:gd name="adj" fmla="val 4327"/>
            </a:avLst>
          </a:prstGeom>
          <a:solidFill xmlns:a="http://schemas.openxmlformats.org/drawingml/2006/main">
            <a:srgbClr val="E8ECF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fe0f4c5a24bbf"/>
          <a:srcRect xmlns:a="http://schemas.openxmlformats.org/drawingml/2006/main" l="0" t="3274" r="0" b="32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2133600"/>
            <a:ext cx="6457950" cy="3771900"/>
          </a:xfrm>
          <a:prstGeom xmlns:a="http://schemas.openxmlformats.org/drawingml/2006/main" prst="roundRect">
            <a:avLst>
              <a:gd name="adj" fmla="val 3535"/>
            </a:avLst>
          </a:prstGeom>
        </p:spPr>
      </p:pic>
    </p:spTree>
    <p:extLst>
      <p:ext uri="{BB962C8B-B14F-4D97-AF65-F5344CB8AC3E}">
        <p14:creationId xmlns:p14="http://schemas.microsoft.com/office/powerpoint/2010/main" val="13823074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dot-03 / 业务闭环">
            <a:extLst xmlns:a="http://schemas.openxmlformats.org/drawingml/2006/main">
              <a:ext uri="{FF2B5EF4-FFF2-40B4-BE49-F238E27FC236}">
                <a16:creationId xmlns:a16="http://schemas.microsoft.com/office/drawing/2014/main" id="{12C42B90-0708-4AB9-9A9E-E6CF59D8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03 / 业务闭环">
            <a:extLst xmlns:a="http://schemas.openxmlformats.org/drawingml/2006/main">
              <a:ext uri="{FF2B5EF4-FFF2-40B4-BE49-F238E27FC236}">
                <a16:creationId xmlns:a16="http://schemas.microsoft.com/office/drawing/2014/main" id="{FB965FF2-434F-4B8B-8C78-2FD46E98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03 / 业务闭环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E55BDE68-B94B-4991-B934-35FC0F14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6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一条业务主线把日常管控、异常处置和事后改进串起来</a:t>
            </a:r>
          </a:p>
        </p:txBody>
      </p:sp>
      <p:sp>
        <p:nvSpPr>
          <p:cNvPr id="4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03651F9-F08D-4EBE-B496-7C107DDB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5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3E84A456-BD83-4D25-921E-2D698EAD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项目交流版 · 基于现有系统原型</a:t>
            </a:r>
          </a:p>
        </p:txBody>
      </p:sp>
      <p:sp>
        <p:nvSpPr>
          <p:cNvPr id="6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D7FE46EA-1FD1-4AC6-809F-88AFE200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7" name="loop-node-0">
            <a:extLst xmlns:a="http://schemas.openxmlformats.org/drawingml/2006/main">
              <a:ext uri="{FF2B5EF4-FFF2-40B4-BE49-F238E27FC236}">
                <a16:creationId xmlns:a16="http://schemas.microsoft.com/office/drawing/2014/main" id="{A1E5192B-307C-440E-88EB-7FF10792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524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8" name="loop-node-1">
            <a:extLst xmlns:a="http://schemas.openxmlformats.org/drawingml/2006/main">
              <a:ext uri="{FF2B5EF4-FFF2-40B4-BE49-F238E27FC236}">
                <a16:creationId xmlns:a16="http://schemas.microsoft.com/office/drawing/2014/main" id="{B6DE992E-58AB-45DA-9B8A-662E58C0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57500"/>
            <a:ext cx="1524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9" name="loop-node-2">
            <a:extLst xmlns:a="http://schemas.openxmlformats.org/drawingml/2006/main">
              <a:ext uri="{FF2B5EF4-FFF2-40B4-BE49-F238E27FC236}">
                <a16:creationId xmlns:a16="http://schemas.microsoft.com/office/drawing/2014/main" id="{1C135B23-650F-4C00-9056-AC8900CB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57500"/>
            <a:ext cx="1524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0" name="loop-node-3">
            <a:extLst xmlns:a="http://schemas.openxmlformats.org/drawingml/2006/main">
              <a:ext uri="{FF2B5EF4-FFF2-40B4-BE49-F238E27FC236}">
                <a16:creationId xmlns:a16="http://schemas.microsoft.com/office/drawing/2014/main" id="{1D367858-EC2E-4A2C-A25B-8C09766C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57500"/>
            <a:ext cx="1524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1" name="loop-node-4">
            <a:extLst xmlns:a="http://schemas.openxmlformats.org/drawingml/2006/main">
              <a:ext uri="{FF2B5EF4-FFF2-40B4-BE49-F238E27FC236}">
                <a16:creationId xmlns:a16="http://schemas.microsoft.com/office/drawing/2014/main" id="{DE0B53B3-E603-41D5-886A-B05AF0D5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1524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2" name="loop-node-5">
            <a:extLst xmlns:a="http://schemas.openxmlformats.org/drawingml/2006/main">
              <a:ext uri="{FF2B5EF4-FFF2-40B4-BE49-F238E27FC236}">
                <a16:creationId xmlns:a16="http://schemas.microsoft.com/office/drawing/2014/main" id="{0A89DD31-CA9C-4D43-9F73-E8F0E229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857500"/>
            <a:ext cx="1524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cxnSp>
        <p:nvCxnSpPr>
          <p:cNvPr id="5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09800" y="35718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A"/>
            </a:solidFill>
            <a:prstDash val="solid"/>
            <a:tailEnd type="arrow" w="sm" len="sm"/>
          </a:ln>
        </p:spPr>
      </p:cxnSp>
      <p:cxnSp>
        <p:nvCxnSpPr>
          <p:cNvPr id="5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67175" y="35718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A"/>
            </a:solidFill>
            <a:prstDash val="solid"/>
            <a:tailEnd type="arrow" w="sm" len="sm"/>
          </a:ln>
        </p:spPr>
      </p:cxnSp>
      <p:cxnSp>
        <p:nvCxnSpPr>
          <p:cNvPr id="5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24550" y="35718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A"/>
            </a:solidFill>
            <a:prstDash val="solid"/>
            <a:tailEnd type="arrow" w="sm" len="sm"/>
          </a:ln>
        </p:spPr>
      </p:cxnSp>
      <p:cxnSp>
        <p:nvCxnSpPr>
          <p:cNvPr id="59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781925" y="35718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A"/>
            </a:solidFill>
            <a:prstDash val="solid"/>
            <a:tailEnd type="arrow" w="sm" len="sm"/>
          </a:ln>
        </p:spPr>
      </p:cxnSp>
      <p:cxnSp>
        <p:nvCxnSpPr>
          <p:cNvPr id="60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639300" y="35718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A"/>
            </a:solidFill>
            <a:prstDash val="solid"/>
            <a:tailEnd type="arrow" w="sm" len="sm"/>
          </a:ln>
        </p:spPr>
      </p:cxnSp>
      <p:sp>
        <p:nvSpPr>
          <p:cNvPr id="18" name="loop-color-0">
            <a:extLst xmlns:a="http://schemas.openxmlformats.org/drawingml/2006/main">
              <a:ext uri="{FF2B5EF4-FFF2-40B4-BE49-F238E27FC236}">
                <a16:creationId xmlns:a16="http://schemas.microsoft.com/office/drawing/2014/main" id="{D446ED0B-1C47-40C1-8FC2-FF4A57EC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524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loop-index-0">
            <a:extLst xmlns:a="http://schemas.openxmlformats.org/drawingml/2006/main">
              <a:ext uri="{FF2B5EF4-FFF2-40B4-BE49-F238E27FC236}">
                <a16:creationId xmlns:a16="http://schemas.microsoft.com/office/drawing/2014/main" id="{3ECE6F10-D629-4D03-9EA7-85E7D73B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20" name="loop-title-0">
            <a:extLst xmlns:a="http://schemas.openxmlformats.org/drawingml/2006/main">
              <a:ext uri="{FF2B5EF4-FFF2-40B4-BE49-F238E27FC236}">
                <a16:creationId xmlns:a16="http://schemas.microsoft.com/office/drawing/2014/main" id="{0DA60288-AB73-4701-8B39-C1C1B86C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态势感知</a:t>
            </a:r>
          </a:p>
        </p:txBody>
      </p:sp>
      <p:sp>
        <p:nvSpPr>
          <p:cNvPr id="21" name="loop-sub-0">
            <a:extLst xmlns:a="http://schemas.openxmlformats.org/drawingml/2006/main">
              <a:ext uri="{FF2B5EF4-FFF2-40B4-BE49-F238E27FC236}">
                <a16:creationId xmlns:a16="http://schemas.microsoft.com/office/drawing/2014/main" id="{978537B3-DCB0-48B6-8B2F-7EBA3030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GDS · VOC · MES</a:t>
            </a:r>
          </a:p>
        </p:txBody>
      </p:sp>
      <p:sp>
        <p:nvSpPr>
          <p:cNvPr id="22" name="loop-color-1">
            <a:extLst xmlns:a="http://schemas.openxmlformats.org/drawingml/2006/main">
              <a:ext uri="{FF2B5EF4-FFF2-40B4-BE49-F238E27FC236}">
                <a16:creationId xmlns:a16="http://schemas.microsoft.com/office/drawing/2014/main" id="{26C0B13D-CEFD-4288-9AEE-2DB0E365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57500"/>
            <a:ext cx="1524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loop-index-1">
            <a:extLst xmlns:a="http://schemas.openxmlformats.org/drawingml/2006/main">
              <a:ext uri="{FF2B5EF4-FFF2-40B4-BE49-F238E27FC236}">
                <a16:creationId xmlns:a16="http://schemas.microsoft.com/office/drawing/2014/main" id="{44FF3259-2F7F-4CFD-A5C6-DD86999E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1242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4" name="loop-title-1">
            <a:extLst xmlns:a="http://schemas.openxmlformats.org/drawingml/2006/main">
              <a:ext uri="{FF2B5EF4-FFF2-40B4-BE49-F238E27FC236}">
                <a16:creationId xmlns:a16="http://schemas.microsoft.com/office/drawing/2014/main" id="{562DBFDE-6FF9-453D-8C81-91BC886D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4861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风险预控</a:t>
            </a:r>
          </a:p>
        </p:txBody>
      </p:sp>
      <p:sp>
        <p:nvSpPr>
          <p:cNvPr id="25" name="loop-sub-1">
            <a:extLst xmlns:a="http://schemas.openxmlformats.org/drawingml/2006/main">
              <a:ext uri="{FF2B5EF4-FFF2-40B4-BE49-F238E27FC236}">
                <a16:creationId xmlns:a16="http://schemas.microsoft.com/office/drawing/2014/main" id="{0E9AFD0B-804D-435B-8243-FC2F3015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924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分级 · 措施 · 责任</a:t>
            </a:r>
          </a:p>
        </p:txBody>
      </p:sp>
      <p:sp>
        <p:nvSpPr>
          <p:cNvPr id="26" name="loop-color-2">
            <a:extLst xmlns:a="http://schemas.openxmlformats.org/drawingml/2006/main">
              <a:ext uri="{FF2B5EF4-FFF2-40B4-BE49-F238E27FC236}">
                <a16:creationId xmlns:a16="http://schemas.microsoft.com/office/drawing/2014/main" id="{2728E636-EAC1-412A-A18D-0A6092C6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57500"/>
            <a:ext cx="1524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2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loop-index-2">
            <a:extLst xmlns:a="http://schemas.openxmlformats.org/drawingml/2006/main">
              <a:ext uri="{FF2B5EF4-FFF2-40B4-BE49-F238E27FC236}">
                <a16:creationId xmlns:a16="http://schemas.microsoft.com/office/drawing/2014/main" id="{DBF88163-E4DF-4B82-B686-0E057783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242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3A26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3A26D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8" name="loop-title-2">
            <a:extLst xmlns:a="http://schemas.openxmlformats.org/drawingml/2006/main">
              <a:ext uri="{FF2B5EF4-FFF2-40B4-BE49-F238E27FC236}">
                <a16:creationId xmlns:a16="http://schemas.microsoft.com/office/drawing/2014/main" id="{E0395ED2-43C3-4BE4-A86E-08773E67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861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过程管控</a:t>
            </a:r>
          </a:p>
        </p:txBody>
      </p:sp>
      <p:sp>
        <p:nvSpPr>
          <p:cNvPr id="29" name="loop-sub-2">
            <a:extLst xmlns:a="http://schemas.openxmlformats.org/drawingml/2006/main">
              <a:ext uri="{FF2B5EF4-FFF2-40B4-BE49-F238E27FC236}">
                <a16:creationId xmlns:a16="http://schemas.microsoft.com/office/drawing/2014/main" id="{384EC1C2-EB04-4EDD-9F61-72C339A1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24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隐患 · 作业许可</a:t>
            </a:r>
          </a:p>
        </p:txBody>
      </p:sp>
      <p:sp>
        <p:nvSpPr>
          <p:cNvPr id="30" name="loop-color-3">
            <a:extLst xmlns:a="http://schemas.openxmlformats.org/drawingml/2006/main">
              <a:ext uri="{FF2B5EF4-FFF2-40B4-BE49-F238E27FC236}">
                <a16:creationId xmlns:a16="http://schemas.microsoft.com/office/drawing/2014/main" id="{BF9DFEDD-5B53-4177-AFAB-F011253B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57500"/>
            <a:ext cx="1524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A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loop-index-3">
            <a:extLst xmlns:a="http://schemas.openxmlformats.org/drawingml/2006/main">
              <a:ext uri="{FF2B5EF4-FFF2-40B4-BE49-F238E27FC236}">
                <a16:creationId xmlns:a16="http://schemas.microsoft.com/office/drawing/2014/main" id="{59317EB0-BFDE-46F0-BA38-0FD029EC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1242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3A83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3A83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2" name="loop-title-3">
            <a:extLst xmlns:a="http://schemas.openxmlformats.org/drawingml/2006/main">
              <a:ext uri="{FF2B5EF4-FFF2-40B4-BE49-F238E27FC236}">
                <a16:creationId xmlns:a16="http://schemas.microsoft.com/office/drawing/2014/main" id="{CA073607-154C-4F18-8757-3DFE8947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861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预警协同</a:t>
            </a:r>
          </a:p>
        </p:txBody>
      </p:sp>
      <p:sp>
        <p:nvSpPr>
          <p:cNvPr id="33" name="loop-sub-3">
            <a:extLst xmlns:a="http://schemas.openxmlformats.org/drawingml/2006/main">
              <a:ext uri="{FF2B5EF4-FFF2-40B4-BE49-F238E27FC236}">
                <a16:creationId xmlns:a16="http://schemas.microsoft.com/office/drawing/2014/main" id="{FA8E8246-A675-4A54-B09B-3EEF9C8E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924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规则 · 证据 · 通知</a:t>
            </a:r>
          </a:p>
        </p:txBody>
      </p:sp>
      <p:sp>
        <p:nvSpPr>
          <p:cNvPr id="34" name="loop-color-4">
            <a:extLst xmlns:a="http://schemas.openxmlformats.org/drawingml/2006/main">
              <a:ext uri="{FF2B5EF4-FFF2-40B4-BE49-F238E27FC236}">
                <a16:creationId xmlns:a16="http://schemas.microsoft.com/office/drawing/2014/main" id="{38F7BBA2-8B8B-46CB-B1A6-60AAF87C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1524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5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loop-index-4">
            <a:extLst xmlns:a="http://schemas.openxmlformats.org/drawingml/2006/main">
              <a:ext uri="{FF2B5EF4-FFF2-40B4-BE49-F238E27FC236}">
                <a16:creationId xmlns:a16="http://schemas.microsoft.com/office/drawing/2014/main" id="{A6011E72-30DB-43F9-9C90-D8339BF3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242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5505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5505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36" name="loop-title-4">
            <a:extLst xmlns:a="http://schemas.openxmlformats.org/drawingml/2006/main">
              <a:ext uri="{FF2B5EF4-FFF2-40B4-BE49-F238E27FC236}">
                <a16:creationId xmlns:a16="http://schemas.microsoft.com/office/drawing/2014/main" id="{590EF24E-895F-4500-BE54-CAF655EE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861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应急处置</a:t>
            </a:r>
          </a:p>
        </p:txBody>
      </p:sp>
      <p:sp>
        <p:nvSpPr>
          <p:cNvPr id="37" name="loop-sub-4">
            <a:extLst xmlns:a="http://schemas.openxmlformats.org/drawingml/2006/main">
              <a:ext uri="{FF2B5EF4-FFF2-40B4-BE49-F238E27FC236}">
                <a16:creationId xmlns:a16="http://schemas.microsoft.com/office/drawing/2014/main" id="{798DFFF3-BA51-410F-9C78-81D4D463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24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预案 · 任务 · 资源</a:t>
            </a:r>
          </a:p>
        </p:txBody>
      </p:sp>
      <p:sp>
        <p:nvSpPr>
          <p:cNvPr id="38" name="loop-color-5">
            <a:extLst xmlns:a="http://schemas.openxmlformats.org/drawingml/2006/main">
              <a:ext uri="{FF2B5EF4-FFF2-40B4-BE49-F238E27FC236}">
                <a16:creationId xmlns:a16="http://schemas.microsoft.com/office/drawing/2014/main" id="{B1184A99-128F-485F-B8BB-3DC6A6D5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857500"/>
            <a:ext cx="1524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loop-index-5">
            <a:extLst xmlns:a="http://schemas.openxmlformats.org/drawingml/2006/main">
              <a:ext uri="{FF2B5EF4-FFF2-40B4-BE49-F238E27FC236}">
                <a16:creationId xmlns:a16="http://schemas.microsoft.com/office/drawing/2014/main" id="{516FD2AD-3592-4758-BA08-2ACAA2E1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1242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0" name="loop-title-5">
            <a:extLst xmlns:a="http://schemas.openxmlformats.org/drawingml/2006/main">
              <a:ext uri="{FF2B5EF4-FFF2-40B4-BE49-F238E27FC236}">
                <a16:creationId xmlns:a16="http://schemas.microsoft.com/office/drawing/2014/main" id="{CE676018-523B-4D7B-9834-9067886F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4861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调查复盘</a:t>
            </a:r>
          </a:p>
        </p:txBody>
      </p:sp>
      <p:sp>
        <p:nvSpPr>
          <p:cNvPr id="41" name="loop-sub-5">
            <a:extLst xmlns:a="http://schemas.openxmlformats.org/drawingml/2006/main">
              <a:ext uri="{FF2B5EF4-FFF2-40B4-BE49-F238E27FC236}">
                <a16:creationId xmlns:a16="http://schemas.microsoft.com/office/drawing/2014/main" id="{A2D00EF1-E7AC-4BD0-92A0-8A522CA5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924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原因 · 整改 · 归档</a:t>
            </a:r>
          </a:p>
        </p:txBody>
      </p:sp>
      <p:sp>
        <p:nvSpPr>
          <p:cNvPr id="42" name="loop-audit">
            <a:extLst xmlns:a="http://schemas.openxmlformats.org/drawingml/2006/main">
              <a:ext uri="{FF2B5EF4-FFF2-40B4-BE49-F238E27FC236}">
                <a16:creationId xmlns:a16="http://schemas.microsoft.com/office/drawing/2014/main" id="{D9806D90-EE93-4571-B74B-29FE0ED9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89535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loop-audit-text">
            <a:extLst xmlns:a="http://schemas.openxmlformats.org/drawingml/2006/main">
              <a:ext uri="{FF2B5EF4-FFF2-40B4-BE49-F238E27FC236}">
                <a16:creationId xmlns:a16="http://schemas.microsoft.com/office/drawing/2014/main" id="{BA100037-55E6-4A40-98DE-9E37CFF8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43500"/>
            <a:ext cx="834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所有状态变化、审批动作和证据材料进入统一审计链</a:t>
            </a:r>
          </a:p>
        </p:txBody>
      </p:sp>
    </p:spTree>
    <p:extLst>
      <p:ext uri="{BB962C8B-B14F-4D97-AF65-F5344CB8AC3E}">
        <p14:creationId xmlns:p14="http://schemas.microsoft.com/office/powerpoint/2010/main" val="12006027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dot-04 / 能力全景">
            <a:extLst xmlns:a="http://schemas.openxmlformats.org/drawingml/2006/main">
              <a:ext uri="{FF2B5EF4-FFF2-40B4-BE49-F238E27FC236}">
                <a16:creationId xmlns:a16="http://schemas.microsoft.com/office/drawing/2014/main" id="{29F45262-835D-4696-892C-A3C7E3FE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04 / 能力全景">
            <a:extLst xmlns:a="http://schemas.openxmlformats.org/drawingml/2006/main">
              <a:ext uri="{FF2B5EF4-FFF2-40B4-BE49-F238E27FC236}">
                <a16:creationId xmlns:a16="http://schemas.microsoft.com/office/drawing/2014/main" id="{7399DFEC-552B-441C-B565-A699A190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04 / 能力全景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105476E8-FA79-4C31-9605-615DDE4E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八个能力域覆盖从监测感知到事件复盘的主要场景</a:t>
            </a:r>
          </a:p>
        </p:txBody>
      </p:sp>
      <p:sp>
        <p:nvSpPr>
          <p:cNvPr id="4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5423F025-5807-4BBB-8854-888ED664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5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99F79801-A1D4-4725-A389-FCAB9A2D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项目交流版 · 基于现有系统原型</a:t>
            </a:r>
          </a:p>
        </p:txBody>
      </p:sp>
      <p:sp>
        <p:nvSpPr>
          <p:cNvPr id="6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08947AC1-2A35-4EB4-BF2D-84F43881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7" name="cap-card-0">
            <a:extLst xmlns:a="http://schemas.openxmlformats.org/drawingml/2006/main">
              <a:ext uri="{FF2B5EF4-FFF2-40B4-BE49-F238E27FC236}">
                <a16:creationId xmlns:a16="http://schemas.microsoft.com/office/drawing/2014/main" id="{A4FB1B86-C243-4346-AF44-AAC08F07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53365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p-index-0">
            <a:extLst xmlns:a="http://schemas.openxmlformats.org/drawingml/2006/main">
              <a:ext uri="{FF2B5EF4-FFF2-40B4-BE49-F238E27FC236}">
                <a16:creationId xmlns:a16="http://schemas.microsoft.com/office/drawing/2014/main" id="{29DD10D2-D12A-4B77-B200-D94D3BD8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cap-title-0">
            <a:extLst xmlns:a="http://schemas.openxmlformats.org/drawingml/2006/main">
              <a:ext uri="{FF2B5EF4-FFF2-40B4-BE49-F238E27FC236}">
                <a16:creationId xmlns:a16="http://schemas.microsoft.com/office/drawing/2014/main" id="{A202DFD3-8368-48D8-95E9-A2A1C88A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综合驾驶舱</a:t>
            </a:r>
          </a:p>
        </p:txBody>
      </p:sp>
      <p:sp>
        <p:nvSpPr>
          <p:cNvPr id="10" name="cap-desc-0">
            <a:extLst xmlns:a="http://schemas.openxmlformats.org/drawingml/2006/main">
              <a:ext uri="{FF2B5EF4-FFF2-40B4-BE49-F238E27FC236}">
                <a16:creationId xmlns:a16="http://schemas.microsoft.com/office/drawing/2014/main" id="{C2EFD8C7-676B-4407-9152-3A53674C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D9E2F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D9E2F0"/>
                </a:solidFill>
                <a:latin typeface="PingFang SC"/>
                <a:ea typeface="PingFang SC"/>
                <a:cs typeface="PingFang SC"/>
              </a:rPr>
              <a:t>态势、趋势、重点事项</a:t>
            </a:r>
          </a:p>
        </p:txBody>
      </p:sp>
      <p:sp>
        <p:nvSpPr>
          <p:cNvPr id="11" name="cap-card-1">
            <a:extLst xmlns:a="http://schemas.openxmlformats.org/drawingml/2006/main">
              <a:ext uri="{FF2B5EF4-FFF2-40B4-BE49-F238E27FC236}">
                <a16:creationId xmlns:a16="http://schemas.microsoft.com/office/drawing/2014/main" id="{EA1BF2DD-753E-4708-9D81-ABB05A5C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00250"/>
            <a:ext cx="253365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ap-index-1">
            <a:extLst xmlns:a="http://schemas.openxmlformats.org/drawingml/2006/main">
              <a:ext uri="{FF2B5EF4-FFF2-40B4-BE49-F238E27FC236}">
                <a16:creationId xmlns:a16="http://schemas.microsoft.com/office/drawing/2014/main" id="{C8528B13-636C-4AD4-BAA4-444EC0CE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71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3" name="cap-title-1">
            <a:extLst xmlns:a="http://schemas.openxmlformats.org/drawingml/2006/main">
              <a:ext uri="{FF2B5EF4-FFF2-40B4-BE49-F238E27FC236}">
                <a16:creationId xmlns:a16="http://schemas.microsoft.com/office/drawing/2014/main" id="{6B390C7E-5010-42F5-98BE-58BFD41D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908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多源监测</a:t>
            </a:r>
          </a:p>
        </p:txBody>
      </p:sp>
      <p:sp>
        <p:nvSpPr>
          <p:cNvPr id="14" name="cap-desc-1">
            <a:extLst xmlns:a="http://schemas.openxmlformats.org/drawingml/2006/main">
              <a:ext uri="{FF2B5EF4-FFF2-40B4-BE49-F238E27FC236}">
                <a16:creationId xmlns:a16="http://schemas.microsoft.com/office/drawing/2014/main" id="{2D5FD61E-3B6D-4E9C-8232-59B1E7B9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670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GDS / VOC / MES</a:t>
            </a:r>
          </a:p>
        </p:txBody>
      </p:sp>
      <p:sp>
        <p:nvSpPr>
          <p:cNvPr id="15" name="cap-card-2">
            <a:extLst xmlns:a="http://schemas.openxmlformats.org/drawingml/2006/main">
              <a:ext uri="{FF2B5EF4-FFF2-40B4-BE49-F238E27FC236}">
                <a16:creationId xmlns:a16="http://schemas.microsoft.com/office/drawing/2014/main" id="{E30031CE-2CCF-4D26-8B96-7EEAC160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00250"/>
            <a:ext cx="253365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ap-index-2">
            <a:extLst xmlns:a="http://schemas.openxmlformats.org/drawingml/2006/main">
              <a:ext uri="{FF2B5EF4-FFF2-40B4-BE49-F238E27FC236}">
                <a16:creationId xmlns:a16="http://schemas.microsoft.com/office/drawing/2014/main" id="{0B3A1764-E086-4EDA-98C5-793BD71B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71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cap-title-2">
            <a:extLst xmlns:a="http://schemas.openxmlformats.org/drawingml/2006/main">
              <a:ext uri="{FF2B5EF4-FFF2-40B4-BE49-F238E27FC236}">
                <a16:creationId xmlns:a16="http://schemas.microsoft.com/office/drawing/2014/main" id="{E575854D-3280-4618-AD80-BFDC0C70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908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风险分级</a:t>
            </a:r>
          </a:p>
        </p:txBody>
      </p:sp>
      <p:sp>
        <p:nvSpPr>
          <p:cNvPr id="18" name="cap-desc-2">
            <a:extLst xmlns:a="http://schemas.openxmlformats.org/drawingml/2006/main">
              <a:ext uri="{FF2B5EF4-FFF2-40B4-BE49-F238E27FC236}">
                <a16:creationId xmlns:a16="http://schemas.microsoft.com/office/drawing/2014/main" id="{84D9DC7E-7143-4188-8713-784D23F3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670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LEC、动态偏移、措施</a:t>
            </a:r>
          </a:p>
        </p:txBody>
      </p:sp>
      <p:sp>
        <p:nvSpPr>
          <p:cNvPr id="19" name="cap-card-3">
            <a:extLst xmlns:a="http://schemas.openxmlformats.org/drawingml/2006/main">
              <a:ext uri="{FF2B5EF4-FFF2-40B4-BE49-F238E27FC236}">
                <a16:creationId xmlns:a16="http://schemas.microsoft.com/office/drawing/2014/main" id="{B3B4F2DC-B919-4369-9F6E-FB407134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00250"/>
            <a:ext cx="253365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p-index-3">
            <a:extLst xmlns:a="http://schemas.openxmlformats.org/drawingml/2006/main">
              <a:ext uri="{FF2B5EF4-FFF2-40B4-BE49-F238E27FC236}">
                <a16:creationId xmlns:a16="http://schemas.microsoft.com/office/drawing/2014/main" id="{42155F7F-1E5E-4F13-A939-10E3CFA6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71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cap-title-3">
            <a:extLst xmlns:a="http://schemas.openxmlformats.org/drawingml/2006/main">
              <a:ext uri="{FF2B5EF4-FFF2-40B4-BE49-F238E27FC236}">
                <a16:creationId xmlns:a16="http://schemas.microsoft.com/office/drawing/2014/main" id="{FC1355BF-944F-4DB3-B733-AA41E1FF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908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隐患治理</a:t>
            </a:r>
          </a:p>
        </p:txBody>
      </p:sp>
      <p:sp>
        <p:nvSpPr>
          <p:cNvPr id="22" name="cap-desc-3">
            <a:extLst xmlns:a="http://schemas.openxmlformats.org/drawingml/2006/main">
              <a:ext uri="{FF2B5EF4-FFF2-40B4-BE49-F238E27FC236}">
                <a16:creationId xmlns:a16="http://schemas.microsoft.com/office/drawing/2014/main" id="{24D7BB19-7391-4F83-9F8F-0B34EB65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670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上报、整改、验收、督办</a:t>
            </a:r>
          </a:p>
        </p:txBody>
      </p:sp>
      <p:sp>
        <p:nvSpPr>
          <p:cNvPr id="23" name="cap-card-4">
            <a:extLst xmlns:a="http://schemas.openxmlformats.org/drawingml/2006/main">
              <a:ext uri="{FF2B5EF4-FFF2-40B4-BE49-F238E27FC236}">
                <a16:creationId xmlns:a16="http://schemas.microsoft.com/office/drawing/2014/main" id="{D4B0D72D-605C-4785-8176-94963C63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253365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ap-index-4">
            <a:extLst xmlns:a="http://schemas.openxmlformats.org/drawingml/2006/main">
              <a:ext uri="{FF2B5EF4-FFF2-40B4-BE49-F238E27FC236}">
                <a16:creationId xmlns:a16="http://schemas.microsoft.com/office/drawing/2014/main" id="{4C40676C-289A-4792-9C30-C8D32523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5" name="cap-title-4">
            <a:extLst xmlns:a="http://schemas.openxmlformats.org/drawingml/2006/main">
              <a:ext uri="{FF2B5EF4-FFF2-40B4-BE49-F238E27FC236}">
                <a16:creationId xmlns:a16="http://schemas.microsoft.com/office/drawing/2014/main" id="{18F598E2-763F-4453-9510-BC95033E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作业许可</a:t>
            </a:r>
          </a:p>
        </p:txBody>
      </p:sp>
      <p:sp>
        <p:nvSpPr>
          <p:cNvPr id="26" name="cap-desc-4">
            <a:extLst xmlns:a="http://schemas.openxmlformats.org/drawingml/2006/main">
              <a:ext uri="{FF2B5EF4-FFF2-40B4-BE49-F238E27FC236}">
                <a16:creationId xmlns:a16="http://schemas.microsoft.com/office/drawing/2014/main" id="{A10E2023-A4AE-4A5E-B353-47FBB4E7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五类票证、三级审批、现场确认</a:t>
            </a:r>
          </a:p>
        </p:txBody>
      </p:sp>
      <p:sp>
        <p:nvSpPr>
          <p:cNvPr id="27" name="cap-card-5">
            <a:extLst xmlns:a="http://schemas.openxmlformats.org/drawingml/2006/main">
              <a:ext uri="{FF2B5EF4-FFF2-40B4-BE49-F238E27FC236}">
                <a16:creationId xmlns:a16="http://schemas.microsoft.com/office/drawing/2014/main" id="{48DF8398-2E7A-4543-89A3-CDD0AE10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86200"/>
            <a:ext cx="253365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ap-index-5">
            <a:extLst xmlns:a="http://schemas.openxmlformats.org/drawingml/2006/main">
              <a:ext uri="{FF2B5EF4-FFF2-40B4-BE49-F238E27FC236}">
                <a16:creationId xmlns:a16="http://schemas.microsoft.com/office/drawing/2014/main" id="{D85543DA-5A4C-4085-9406-828D8CBE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57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9" name="cap-title-5">
            <a:extLst xmlns:a="http://schemas.openxmlformats.org/drawingml/2006/main">
              <a:ext uri="{FF2B5EF4-FFF2-40B4-BE49-F238E27FC236}">
                <a16:creationId xmlns:a16="http://schemas.microsoft.com/office/drawing/2014/main" id="{A67E3CF7-941A-4FE9-A48A-BACEC1F0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767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预警规则</a:t>
            </a:r>
          </a:p>
        </p:txBody>
      </p:sp>
      <p:sp>
        <p:nvSpPr>
          <p:cNvPr id="30" name="cap-desc-5">
            <a:extLst xmlns:a="http://schemas.openxmlformats.org/drawingml/2006/main">
              <a:ext uri="{FF2B5EF4-FFF2-40B4-BE49-F238E27FC236}">
                <a16:creationId xmlns:a16="http://schemas.microsoft.com/office/drawing/2014/main" id="{C337B16D-69C6-4264-90B2-C4EBEB82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530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表达式、会签、版本、灰度</a:t>
            </a:r>
          </a:p>
        </p:txBody>
      </p:sp>
      <p:sp>
        <p:nvSpPr>
          <p:cNvPr id="31" name="cap-card-6">
            <a:extLst xmlns:a="http://schemas.openxmlformats.org/drawingml/2006/main">
              <a:ext uri="{FF2B5EF4-FFF2-40B4-BE49-F238E27FC236}">
                <a16:creationId xmlns:a16="http://schemas.microsoft.com/office/drawing/2014/main" id="{AAEBFE3A-5A1D-40E9-8CED-E4E4DD6B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86200"/>
            <a:ext cx="253365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ap-index-6">
            <a:extLst xmlns:a="http://schemas.openxmlformats.org/drawingml/2006/main">
              <a:ext uri="{FF2B5EF4-FFF2-40B4-BE49-F238E27FC236}">
                <a16:creationId xmlns:a16="http://schemas.microsoft.com/office/drawing/2014/main" id="{55BD89AB-3178-4E5B-95DC-8B8759E4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57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33" name="cap-title-6">
            <a:extLst xmlns:a="http://schemas.openxmlformats.org/drawingml/2006/main">
              <a:ext uri="{FF2B5EF4-FFF2-40B4-BE49-F238E27FC236}">
                <a16:creationId xmlns:a16="http://schemas.microsoft.com/office/drawing/2014/main" id="{CC68FE91-EFFA-4C1C-96DC-4ED5F6A2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767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应急协同</a:t>
            </a:r>
          </a:p>
        </p:txBody>
      </p:sp>
      <p:sp>
        <p:nvSpPr>
          <p:cNvPr id="34" name="cap-desc-6">
            <a:extLst xmlns:a="http://schemas.openxmlformats.org/drawingml/2006/main">
              <a:ext uri="{FF2B5EF4-FFF2-40B4-BE49-F238E27FC236}">
                <a16:creationId xmlns:a16="http://schemas.microsoft.com/office/drawing/2014/main" id="{C2F04C5F-8200-4B7C-BFCB-A406D849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530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D9E2F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D9E2F0"/>
                </a:solidFill>
                <a:latin typeface="PingFang SC"/>
                <a:ea typeface="PingFang SC"/>
                <a:cs typeface="PingFang SC"/>
              </a:rPr>
              <a:t>通信、预案、资源、任务</a:t>
            </a:r>
          </a:p>
        </p:txBody>
      </p:sp>
      <p:sp>
        <p:nvSpPr>
          <p:cNvPr id="35" name="cap-card-7">
            <a:extLst xmlns:a="http://schemas.openxmlformats.org/drawingml/2006/main">
              <a:ext uri="{FF2B5EF4-FFF2-40B4-BE49-F238E27FC236}">
                <a16:creationId xmlns:a16="http://schemas.microsoft.com/office/drawing/2014/main" id="{F2DA1D30-B4DD-4E6F-BAC5-FB4972C4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86200"/>
            <a:ext cx="253365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ap-index-7">
            <a:extLst xmlns:a="http://schemas.openxmlformats.org/drawingml/2006/main">
              <a:ext uri="{FF2B5EF4-FFF2-40B4-BE49-F238E27FC236}">
                <a16:creationId xmlns:a16="http://schemas.microsoft.com/office/drawing/2014/main" id="{746A4F73-B6A2-4634-84E9-D5D066C7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57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37" name="cap-title-7">
            <a:extLst xmlns:a="http://schemas.openxmlformats.org/drawingml/2006/main">
              <a:ext uri="{FF2B5EF4-FFF2-40B4-BE49-F238E27FC236}">
                <a16:creationId xmlns:a16="http://schemas.microsoft.com/office/drawing/2014/main" id="{32FD8413-1636-4926-A37C-55CB65AA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767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事件复盘</a:t>
            </a:r>
          </a:p>
        </p:txBody>
      </p:sp>
      <p:sp>
        <p:nvSpPr>
          <p:cNvPr id="38" name="cap-desc-7">
            <a:extLst xmlns:a="http://schemas.openxmlformats.org/drawingml/2006/main">
              <a:ext uri="{FF2B5EF4-FFF2-40B4-BE49-F238E27FC236}">
                <a16:creationId xmlns:a16="http://schemas.microsoft.com/office/drawing/2014/main" id="{913665F1-31E6-4FF5-99F9-E68DBB1F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9530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时间线、原因、整改、归档</a:t>
            </a:r>
          </a:p>
        </p:txBody>
      </p:sp>
    </p:spTree>
    <p:extLst>
      <p:ext uri="{BB962C8B-B14F-4D97-AF65-F5344CB8AC3E}">
        <p14:creationId xmlns:p14="http://schemas.microsoft.com/office/powerpoint/2010/main" val="20374087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dot-05 / 系统实景">
            <a:extLst xmlns:a="http://schemas.openxmlformats.org/drawingml/2006/main">
              <a:ext uri="{FF2B5EF4-FFF2-40B4-BE49-F238E27FC236}">
                <a16:creationId xmlns:a16="http://schemas.microsoft.com/office/drawing/2014/main" id="{A471EDEE-DEDE-44AF-87AA-F12BA841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05 / 系统实景">
            <a:extLst xmlns:a="http://schemas.openxmlformats.org/drawingml/2006/main">
              <a:ext uri="{FF2B5EF4-FFF2-40B4-BE49-F238E27FC236}">
                <a16:creationId xmlns:a16="http://schemas.microsoft.com/office/drawing/2014/main" id="{B33E92A1-8CB5-4042-B347-EC6B658F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05 / 系统实景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0C901E94-91A7-4783-A874-F71731F0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展示大屏让值守中心快速识别风险态势和处置进度</a:t>
            </a:r>
          </a:p>
        </p:txBody>
      </p:sp>
      <p:sp>
        <p:nvSpPr>
          <p:cNvPr id="4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BB0DBBBB-2030-4BAA-80A4-F903BE5F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5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5BA84561-8D0B-4D82-B4E8-A754E384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项目交流版 · 基于现有系统原型</a:t>
            </a:r>
          </a:p>
        </p:txBody>
      </p:sp>
      <p:sp>
        <p:nvSpPr>
          <p:cNvPr id="6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F3D6A47F-4817-4205-8BC4-41C5C178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7" name="screen-note">
            <a:extLst xmlns:a="http://schemas.openxmlformats.org/drawingml/2006/main">
              <a:ext uri="{FF2B5EF4-FFF2-40B4-BE49-F238E27FC236}">
                <a16:creationId xmlns:a16="http://schemas.microsoft.com/office/drawing/2014/main" id="{9F0BEFF8-AF5B-474F-9C01-2EB79EDE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实时事件队列 · 重点装置风险 · 多源趋势 · 资源与通信状态</a:t>
            </a:r>
          </a:p>
        </p:txBody>
      </p:sp>
      <p:sp>
        <p:nvSpPr>
          <p:cNvPr id="8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54E7717F-E3D3-44AE-AFCA-9C75CC43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10210800" cy="382905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10431097149c3"/>
          <a:stretch xmlns:a="http://schemas.openxmlformats.org/drawingml/2006/main"/>
        </p:blipFill>
        <p:spPr>
          <a:xfrm xmlns:a="http://schemas.openxmlformats.org/drawingml/2006/main">
            <a:off x="2861733" y="2400300"/>
            <a:ext cx="6468533" cy="3638550"/>
          </a:xfrm>
          <a:prstGeom xmlns:a="http://schemas.openxmlformats.org/drawingml/2006/main" prst="roundRect">
            <a:avLst>
              <a:gd name="adj" fmla="val 3141"/>
            </a:avLst>
          </a:prstGeom>
        </p:spPr>
      </p:pic>
    </p:spTree>
    <p:extLst>
      <p:ext uri="{BB962C8B-B14F-4D97-AF65-F5344CB8AC3E}">
        <p14:creationId xmlns:p14="http://schemas.microsoft.com/office/powerpoint/2010/main" val="21472815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dot-06 / 日常管控">
            <a:extLst xmlns:a="http://schemas.openxmlformats.org/drawingml/2006/main">
              <a:ext uri="{FF2B5EF4-FFF2-40B4-BE49-F238E27FC236}">
                <a16:creationId xmlns:a16="http://schemas.microsoft.com/office/drawing/2014/main" id="{A0E514B0-8649-4737-B4F3-5A1818D6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06 / 日常管控">
            <a:extLst xmlns:a="http://schemas.openxmlformats.org/drawingml/2006/main">
              <a:ext uri="{FF2B5EF4-FFF2-40B4-BE49-F238E27FC236}">
                <a16:creationId xmlns:a16="http://schemas.microsoft.com/office/drawing/2014/main" id="{C4F91F8A-58FB-4B19-B5B1-1CCCF9FF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06 / 日常管控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048AF9AF-B9BF-4BC0-AB42-F51B8FE3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6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风险、隐患、作业和预警构成日常安全管理的四个闭环</a:t>
            </a:r>
          </a:p>
        </p:txBody>
      </p:sp>
      <p:sp>
        <p:nvSpPr>
          <p:cNvPr id="4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26D6377E-5C31-4822-8ECE-DD355A10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5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C8F26555-1922-4766-ACD5-2DA0F104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项目交流版 · 基于现有系统原型</a:t>
            </a:r>
          </a:p>
        </p:txBody>
      </p:sp>
      <p:sp>
        <p:nvSpPr>
          <p:cNvPr id="6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F6D1BAE1-E23B-4171-BDED-494DB6BF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7" name="daily-card-0">
            <a:extLst xmlns:a="http://schemas.openxmlformats.org/drawingml/2006/main">
              <a:ext uri="{FF2B5EF4-FFF2-40B4-BE49-F238E27FC236}">
                <a16:creationId xmlns:a16="http://schemas.microsoft.com/office/drawing/2014/main" id="{5EAE97E7-E82D-40D3-94E8-B3DAE247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768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aily-accent-0">
            <a:extLst xmlns:a="http://schemas.openxmlformats.org/drawingml/2006/main">
              <a:ext uri="{FF2B5EF4-FFF2-40B4-BE49-F238E27FC236}">
                <a16:creationId xmlns:a16="http://schemas.microsoft.com/office/drawing/2014/main" id="{13982639-79B5-44E2-8ED4-5D385FDA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143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aily-index-0">
            <a:extLst xmlns:a="http://schemas.openxmlformats.org/drawingml/2006/main">
              <a:ext uri="{FF2B5EF4-FFF2-40B4-BE49-F238E27FC236}">
                <a16:creationId xmlns:a16="http://schemas.microsoft.com/office/drawing/2014/main" id="{0F5FA843-0149-4D8A-8AB4-180434E3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0" name="daily-title-0">
            <a:extLst xmlns:a="http://schemas.openxmlformats.org/drawingml/2006/main">
              <a:ext uri="{FF2B5EF4-FFF2-40B4-BE49-F238E27FC236}">
                <a16:creationId xmlns:a16="http://schemas.microsoft.com/office/drawing/2014/main" id="{3A325396-0CD7-4A3E-80D6-3700C320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622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风险闭环</a:t>
            </a:r>
          </a:p>
        </p:txBody>
      </p:sp>
      <p:sp>
        <p:nvSpPr>
          <p:cNvPr id="11" name="daily-path-0">
            <a:extLst xmlns:a="http://schemas.openxmlformats.org/drawingml/2006/main">
              <a:ext uri="{FF2B5EF4-FFF2-40B4-BE49-F238E27FC236}">
                <a16:creationId xmlns:a16="http://schemas.microsoft.com/office/drawing/2014/main" id="{333B7044-15AB-4461-AA0A-5B8FDD79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辨识 → 评估 → 分级 → 措施 → 验证</a:t>
            </a:r>
          </a:p>
        </p:txBody>
      </p:sp>
      <p:sp>
        <p:nvSpPr>
          <p:cNvPr id="12" name="daily-card-1">
            <a:extLst xmlns:a="http://schemas.openxmlformats.org/drawingml/2006/main">
              <a:ext uri="{FF2B5EF4-FFF2-40B4-BE49-F238E27FC236}">
                <a16:creationId xmlns:a16="http://schemas.microsoft.com/office/drawing/2014/main" id="{45D44C73-E6D7-4632-BDAC-8BAC0BB1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38350"/>
            <a:ext cx="52768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aily-accent-1">
            <a:extLst xmlns:a="http://schemas.openxmlformats.org/drawingml/2006/main">
              <a:ext uri="{FF2B5EF4-FFF2-40B4-BE49-F238E27FC236}">
                <a16:creationId xmlns:a16="http://schemas.microsoft.com/office/drawing/2014/main" id="{924899CC-3312-4284-A18E-946A59B3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38350"/>
            <a:ext cx="1143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2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aily-index-1">
            <a:extLst xmlns:a="http://schemas.openxmlformats.org/drawingml/2006/main">
              <a:ext uri="{FF2B5EF4-FFF2-40B4-BE49-F238E27FC236}">
                <a16:creationId xmlns:a16="http://schemas.microsoft.com/office/drawing/2014/main" id="{9182E3FB-BADA-42F2-A997-DB3D15CD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47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3A2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3A26D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5" name="daily-title-1">
            <a:extLst xmlns:a="http://schemas.openxmlformats.org/drawingml/2006/main">
              <a:ext uri="{FF2B5EF4-FFF2-40B4-BE49-F238E27FC236}">
                <a16:creationId xmlns:a16="http://schemas.microsoft.com/office/drawing/2014/main" id="{AA1B1E41-FBD5-4BFE-9975-8B6827E6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622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隐患闭环</a:t>
            </a:r>
          </a:p>
        </p:txBody>
      </p:sp>
      <p:sp>
        <p:nvSpPr>
          <p:cNvPr id="16" name="daily-path-1">
            <a:extLst xmlns:a="http://schemas.openxmlformats.org/drawingml/2006/main">
              <a:ext uri="{FF2B5EF4-FFF2-40B4-BE49-F238E27FC236}">
                <a16:creationId xmlns:a16="http://schemas.microsoft.com/office/drawing/2014/main" id="{8087C8DC-B99B-4E8F-B4BE-03B500CC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2895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上报 → 派发 → 整改 → 证据 → 验收</a:t>
            </a:r>
          </a:p>
        </p:txBody>
      </p:sp>
      <p:sp>
        <p:nvSpPr>
          <p:cNvPr id="17" name="daily-card-2">
            <a:extLst xmlns:a="http://schemas.openxmlformats.org/drawingml/2006/main">
              <a:ext uri="{FF2B5EF4-FFF2-40B4-BE49-F238E27FC236}">
                <a16:creationId xmlns:a16="http://schemas.microsoft.com/office/drawing/2014/main" id="{14C7CE92-8DCD-4EC3-97CE-D54982A7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52768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aily-accent-2">
            <a:extLst xmlns:a="http://schemas.openxmlformats.org/drawingml/2006/main">
              <a:ext uri="{FF2B5EF4-FFF2-40B4-BE49-F238E27FC236}">
                <a16:creationId xmlns:a16="http://schemas.microsoft.com/office/drawing/2014/main" id="{DD79B524-DF58-4D7F-8EBB-8CB987DF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143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A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aily-index-2">
            <a:extLst xmlns:a="http://schemas.openxmlformats.org/drawingml/2006/main">
              <a:ext uri="{FF2B5EF4-FFF2-40B4-BE49-F238E27FC236}">
                <a16:creationId xmlns:a16="http://schemas.microsoft.com/office/drawing/2014/main" id="{9849F5B0-D378-48D4-8BF6-89D5B27F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3A83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3A83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0" name="daily-title-2">
            <a:extLst xmlns:a="http://schemas.openxmlformats.org/drawingml/2006/main">
              <a:ext uri="{FF2B5EF4-FFF2-40B4-BE49-F238E27FC236}">
                <a16:creationId xmlns:a16="http://schemas.microsoft.com/office/drawing/2014/main" id="{E9AC0E30-AEBD-466C-AFF5-B4A720CC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576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作业闭环</a:t>
            </a:r>
          </a:p>
        </p:txBody>
      </p:sp>
      <p:sp>
        <p:nvSpPr>
          <p:cNvPr id="21" name="daily-path-2">
            <a:extLst xmlns:a="http://schemas.openxmlformats.org/drawingml/2006/main">
              <a:ext uri="{FF2B5EF4-FFF2-40B4-BE49-F238E27FC236}">
                <a16:creationId xmlns:a16="http://schemas.microsoft.com/office/drawing/2014/main" id="{F9E94F5E-328A-447F-89AC-D79E1A0F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2440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申请 → 审批 → 现场确认 → 作业 → 关闭</a:t>
            </a:r>
          </a:p>
        </p:txBody>
      </p:sp>
      <p:sp>
        <p:nvSpPr>
          <p:cNvPr id="22" name="daily-card-3">
            <a:extLst xmlns:a="http://schemas.openxmlformats.org/drawingml/2006/main">
              <a:ext uri="{FF2B5EF4-FFF2-40B4-BE49-F238E27FC236}">
                <a16:creationId xmlns:a16="http://schemas.microsoft.com/office/drawing/2014/main" id="{B81B8BC1-4138-4618-997A-368B9018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52768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aily-accent-3">
            <a:extLst xmlns:a="http://schemas.openxmlformats.org/drawingml/2006/main">
              <a:ext uri="{FF2B5EF4-FFF2-40B4-BE49-F238E27FC236}">
                <a16:creationId xmlns:a16="http://schemas.microsoft.com/office/drawing/2014/main" id="{B5257AFF-219B-4EDA-9AD6-F61C43CB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1143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5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aily-index-3">
            <a:extLst xmlns:a="http://schemas.openxmlformats.org/drawingml/2006/main">
              <a:ext uri="{FF2B5EF4-FFF2-40B4-BE49-F238E27FC236}">
                <a16:creationId xmlns:a16="http://schemas.microsoft.com/office/drawing/2014/main" id="{A9EED26C-3DEB-4DAB-97DE-CAF366F3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433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E5505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5505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5" name="daily-title-3">
            <a:extLst xmlns:a="http://schemas.openxmlformats.org/drawingml/2006/main">
              <a:ext uri="{FF2B5EF4-FFF2-40B4-BE49-F238E27FC236}">
                <a16:creationId xmlns:a16="http://schemas.microsoft.com/office/drawing/2014/main" id="{079A4F45-8E1E-450C-8EFC-25504D29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576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预警闭环</a:t>
            </a:r>
          </a:p>
        </p:txBody>
      </p:sp>
      <p:sp>
        <p:nvSpPr>
          <p:cNvPr id="26" name="daily-path-3">
            <a:extLst xmlns:a="http://schemas.openxmlformats.org/drawingml/2006/main">
              <a:ext uri="{FF2B5EF4-FFF2-40B4-BE49-F238E27FC236}">
                <a16:creationId xmlns:a16="http://schemas.microsoft.com/office/drawing/2014/main" id="{11EE8FFD-8C77-4A6F-B768-D0A769B0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2440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规则命中 → 证据聚合 → 确认 → 处置 → 复盘</a:t>
            </a:r>
          </a:p>
        </p:txBody>
      </p:sp>
      <p:sp>
        <p:nvSpPr>
          <p:cNvPr id="27" name="daily-note">
            <a:extLst xmlns:a="http://schemas.openxmlformats.org/drawingml/2006/main">
              <a:ext uri="{FF2B5EF4-FFF2-40B4-BE49-F238E27FC236}">
                <a16:creationId xmlns:a16="http://schemas.microsoft.com/office/drawing/2014/main" id="{504BDD2D-B0F1-4DEC-A493-215F54EF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前端仅发起业务动作；状态机、权限和审计由服务端统一控制</a:t>
            </a:r>
          </a:p>
        </p:txBody>
      </p:sp>
    </p:spTree>
    <p:extLst>
      <p:ext uri="{BB962C8B-B14F-4D97-AF65-F5344CB8AC3E}">
        <p14:creationId xmlns:p14="http://schemas.microsoft.com/office/powerpoint/2010/main" val="8189702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dot-07 / 风险分级">
            <a:extLst xmlns:a="http://schemas.openxmlformats.org/drawingml/2006/main">
              <a:ext uri="{FF2B5EF4-FFF2-40B4-BE49-F238E27FC236}">
                <a16:creationId xmlns:a16="http://schemas.microsoft.com/office/drawing/2014/main" id="{29EE09BD-F651-4EB3-95B1-1AFCB096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07 / 风险分级">
            <a:extLst xmlns:a="http://schemas.openxmlformats.org/drawingml/2006/main">
              <a:ext uri="{FF2B5EF4-FFF2-40B4-BE49-F238E27FC236}">
                <a16:creationId xmlns:a16="http://schemas.microsoft.com/office/drawing/2014/main" id="{82D7480E-6495-439F-80C7-2EBCABC4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07 / 风险分级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7DC906CC-7E36-425A-86BE-21D54F05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7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风险分级管控把固有风险、实时风险和监测证据关联在同一对象上</a:t>
            </a:r>
          </a:p>
        </p:txBody>
      </p:sp>
      <p:sp>
        <p:nvSpPr>
          <p:cNvPr id="4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CC945AD6-0E3A-465B-8557-DE25B661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5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8A36F866-6C21-4C1B-93FC-07CCFBBE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项目交流版 · 基于现有系统原型</a:t>
            </a:r>
          </a:p>
        </p:txBody>
      </p:sp>
      <p:sp>
        <p:nvSpPr>
          <p:cNvPr id="6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1B101945-721D-4394-AB70-F60B53D1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" name="risk-tag">
            <a:extLst xmlns:a="http://schemas.openxmlformats.org/drawingml/2006/main">
              <a:ext uri="{FF2B5EF4-FFF2-40B4-BE49-F238E27FC236}">
                <a16:creationId xmlns:a16="http://schemas.microsoft.com/office/drawing/2014/main" id="{0432E6AF-62EA-4898-9C25-B56A4067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143000" cy="304800"/>
          </a:xfrm>
          <a:prstGeom xmlns:a="http://schemas.openxmlformats.org/drawingml/2006/main" prst="roundRect">
            <a:avLst>
              <a:gd name="adj" fmla="val 4375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核心业务域</a:t>
            </a:r>
          </a:p>
        </p:txBody>
      </p:sp>
      <p:sp>
        <p:nvSpPr>
          <p:cNvPr id="8" name="risk-bullets">
            <a:extLst xmlns:a="http://schemas.openxmlformats.org/drawingml/2006/main">
              <a:ext uri="{FF2B5EF4-FFF2-40B4-BE49-F238E27FC236}">
                <a16:creationId xmlns:a16="http://schemas.microsoft.com/office/drawing/2014/main" id="{24446AA9-6CB0-43DC-BA7E-05D47F34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7719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spcAft>
                <a:spcPts val="16"/>
              </a:spcAft>
              <a:buChar char="•"/>
              <a:defRPr sz="1350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企业—分厂—装置—区域—单元多层级台账</a:t>
            </a:r>
          </a:p>
          <a:p xmlns:a="http://schemas.openxmlformats.org/drawingml/2006/main">
            <a:pPr marL="22" indent="-12" algn="l">
              <a:spcAft>
                <a:spcPts val="16"/>
              </a:spcAft>
              <a:buChar char="•"/>
              <a:defRPr sz="1350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LEC 评估、风险等级历史与变化依据</a:t>
            </a:r>
          </a:p>
          <a:p xmlns:a="http://schemas.openxmlformats.org/drawingml/2006/main">
            <a:pPr marL="22" indent="-12" algn="l">
              <a:spcAft>
                <a:spcPts val="16"/>
              </a:spcAft>
              <a:buChar char="•"/>
              <a:defRPr sz="1350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GDS / VOC / MES 动态因子驱动风险偏移</a:t>
            </a:r>
          </a:p>
          <a:p xmlns:a="http://schemas.openxmlformats.org/drawingml/2006/main">
            <a:pPr marL="22" indent="-12" algn="l">
              <a:spcAft>
                <a:spcPts val="16"/>
              </a:spcAft>
              <a:buChar char="•"/>
              <a:defRPr sz="1350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措施责任人、验证状态与业务对象关联</a:t>
            </a:r>
          </a:p>
        </p:txBody>
      </p:sp>
      <p:sp>
        <p:nvSpPr>
          <p:cNvPr id="9" name="risk-insight">
            <a:extLst xmlns:a="http://schemas.openxmlformats.org/drawingml/2006/main">
              <a:ext uri="{FF2B5EF4-FFF2-40B4-BE49-F238E27FC236}">
                <a16:creationId xmlns:a16="http://schemas.microsoft.com/office/drawing/2014/main" id="{C1E0ECAB-5570-4990-A05F-F7110CEB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37719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isk-insight-text">
            <a:extLst xmlns:a="http://schemas.openxmlformats.org/drawingml/2006/main">
              <a:ext uri="{FF2B5EF4-FFF2-40B4-BE49-F238E27FC236}">
                <a16:creationId xmlns:a16="http://schemas.microsoft.com/office/drawing/2014/main" id="{C46D6EA7-5F45-4AD8-B0D3-D3D7E622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从“静态台账”走向“证据驱动的动态风险”</a:t>
            </a:r>
          </a:p>
        </p:txBody>
      </p:sp>
      <p:sp>
        <p:nvSpPr>
          <p:cNvPr id="11" name="risk-frame">
            <a:extLst xmlns:a="http://schemas.openxmlformats.org/drawingml/2006/main">
              <a:ext uri="{FF2B5EF4-FFF2-40B4-BE49-F238E27FC236}">
                <a16:creationId xmlns:a16="http://schemas.microsoft.com/office/drawing/2014/main" id="{F5C12BDF-8813-4D62-B5E3-E4F152D9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57400"/>
            <a:ext cx="6743700" cy="39433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8ECF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e1dab74d24511"/>
          <a:srcRect xmlns:a="http://schemas.openxmlformats.org/drawingml/2006/main" l="0" t="4186" r="0" b="41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2152650"/>
            <a:ext cx="6553200" cy="3752850"/>
          </a:xfrm>
          <a:prstGeom xmlns:a="http://schemas.openxmlformats.org/drawingml/2006/main" prst="roundRect">
            <a:avLst>
              <a:gd name="adj" fmla="val 3553"/>
            </a:avLst>
          </a:prstGeom>
        </p:spPr>
      </p:pic>
    </p:spTree>
    <p:extLst>
      <p:ext uri="{BB962C8B-B14F-4D97-AF65-F5344CB8AC3E}">
        <p14:creationId xmlns:p14="http://schemas.microsoft.com/office/powerpoint/2010/main" val="19888612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dot-08 / 作业许可">
            <a:extLst xmlns:a="http://schemas.openxmlformats.org/drawingml/2006/main">
              <a:ext uri="{FF2B5EF4-FFF2-40B4-BE49-F238E27FC236}">
                <a16:creationId xmlns:a16="http://schemas.microsoft.com/office/drawing/2014/main" id="{9428E59B-AEC6-435B-84BB-07D7766F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08 / 作业许可">
            <a:extLst xmlns:a="http://schemas.openxmlformats.org/drawingml/2006/main">
              <a:ext uri="{FF2B5EF4-FFF2-40B4-BE49-F238E27FC236}">
                <a16:creationId xmlns:a16="http://schemas.microsoft.com/office/drawing/2014/main" id="{C2FCDEEC-9659-44B7-B2BC-A341247C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08 / 作业许可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0C994C2E-1A03-4B2D-A98A-5427CED8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6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作业许可把审批、检测和实时告警放到同一张票证里</a:t>
            </a:r>
          </a:p>
        </p:txBody>
      </p:sp>
      <p:sp>
        <p:nvSpPr>
          <p:cNvPr id="4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AB2486A1-2C68-4160-B577-4E46F4EE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5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E58AB807-EDFA-4A72-9D62-7720B934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项目交流版 · 基于现有系统原型</a:t>
            </a:r>
          </a:p>
        </p:txBody>
      </p:sp>
      <p:sp>
        <p:nvSpPr>
          <p:cNvPr id="6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C14E10AF-6723-4716-84D5-6FB863E3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7" name="permit-tag">
            <a:extLst xmlns:a="http://schemas.openxmlformats.org/drawingml/2006/main">
              <a:ext uri="{FF2B5EF4-FFF2-40B4-BE49-F238E27FC236}">
                <a16:creationId xmlns:a16="http://schemas.microsoft.com/office/drawing/2014/main" id="{F9D554AB-2970-41C3-B613-A388FEA7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143000" cy="304800"/>
          </a:xfrm>
          <a:prstGeom xmlns:a="http://schemas.openxmlformats.org/drawingml/2006/main" prst="roundRect">
            <a:avLst>
              <a:gd name="adj" fmla="val 4375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核心业务域</a:t>
            </a:r>
          </a:p>
        </p:txBody>
      </p:sp>
      <p:sp>
        <p:nvSpPr>
          <p:cNvPr id="8" name="permit-bullets">
            <a:extLst xmlns:a="http://schemas.openxmlformats.org/drawingml/2006/main">
              <a:ext uri="{FF2B5EF4-FFF2-40B4-BE49-F238E27FC236}">
                <a16:creationId xmlns:a16="http://schemas.microsoft.com/office/drawing/2014/main" id="{B9FC14E8-8256-4DD9-BE26-A16642A3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7719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spcAft>
                <a:spcPts val="16"/>
              </a:spcAft>
              <a:buChar char="•"/>
              <a:defRPr sz="1350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动火、受限空间、高处、吊装、临时用电</a:t>
            </a:r>
          </a:p>
          <a:p xmlns:a="http://schemas.openxmlformats.org/drawingml/2006/main">
            <a:pPr marL="22" indent="-12" algn="l">
              <a:spcAft>
                <a:spcPts val="16"/>
              </a:spcAft>
              <a:buChar char="•"/>
              <a:defRPr sz="1350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三级审批与双人现场确认</a:t>
            </a:r>
          </a:p>
          <a:p xmlns:a="http://schemas.openxmlformats.org/drawingml/2006/main">
            <a:pPr marL="22" indent="-12" algn="l">
              <a:spcAft>
                <a:spcPts val="16"/>
              </a:spcAft>
              <a:buChar char="•"/>
              <a:defRPr sz="1350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作业点与 GDS 探测器关联</a:t>
            </a:r>
          </a:p>
          <a:p xmlns:a="http://schemas.openxmlformats.org/drawingml/2006/main">
            <a:pPr marL="22" indent="-12" algn="l">
              <a:spcAft>
                <a:spcPts val="16"/>
              </a:spcAft>
              <a:buChar char="•"/>
              <a:defRPr sz="1350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重大告警触发暂停建议并保留处置依据</a:t>
            </a:r>
          </a:p>
        </p:txBody>
      </p:sp>
      <p:sp>
        <p:nvSpPr>
          <p:cNvPr id="9" name="permit-insight">
            <a:extLst xmlns:a="http://schemas.openxmlformats.org/drawingml/2006/main">
              <a:ext uri="{FF2B5EF4-FFF2-40B4-BE49-F238E27FC236}">
                <a16:creationId xmlns:a16="http://schemas.microsoft.com/office/drawing/2014/main" id="{397B32D5-2CC2-4B52-8551-A1AD5AA2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37719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ermit-insight-text">
            <a:extLst xmlns:a="http://schemas.openxmlformats.org/drawingml/2006/main">
              <a:ext uri="{FF2B5EF4-FFF2-40B4-BE49-F238E27FC236}">
                <a16:creationId xmlns:a16="http://schemas.microsoft.com/office/drawing/2014/main" id="{69AE332A-5DA7-497A-8AB4-206942A2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票证、检测、告警与审批形成统一证据链</a:t>
            </a:r>
          </a:p>
        </p:txBody>
      </p:sp>
      <p:sp>
        <p:nvSpPr>
          <p:cNvPr id="11" name="permit-frame">
            <a:extLst xmlns:a="http://schemas.openxmlformats.org/drawingml/2006/main">
              <a:ext uri="{FF2B5EF4-FFF2-40B4-BE49-F238E27FC236}">
                <a16:creationId xmlns:a16="http://schemas.microsoft.com/office/drawing/2014/main" id="{21EC8077-D8CF-44B5-8A05-36E0AB0D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57400"/>
            <a:ext cx="6743700" cy="39433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8ECF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bd9e2f151c403a"/>
          <a:srcRect xmlns:a="http://schemas.openxmlformats.org/drawingml/2006/main" l="0" t="4186" r="0" b="41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2152650"/>
            <a:ext cx="6553200" cy="3752850"/>
          </a:xfrm>
          <a:prstGeom xmlns:a="http://schemas.openxmlformats.org/drawingml/2006/main" prst="roundRect">
            <a:avLst>
              <a:gd name="adj" fmla="val 3553"/>
            </a:avLst>
          </a:prstGeom>
        </p:spPr>
      </p:pic>
    </p:spTree>
    <p:extLst>
      <p:ext uri="{BB962C8B-B14F-4D97-AF65-F5344CB8AC3E}">
        <p14:creationId xmlns:p14="http://schemas.microsoft.com/office/powerpoint/2010/main" val="11541140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dot-09 / 应急协同">
            <a:extLst xmlns:a="http://schemas.openxmlformats.org/drawingml/2006/main">
              <a:ext uri="{FF2B5EF4-FFF2-40B4-BE49-F238E27FC236}">
                <a16:creationId xmlns:a16="http://schemas.microsoft.com/office/drawing/2014/main" id="{69504FC3-933F-44E6-BE32-704B2D87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09 / 应急协同">
            <a:extLst xmlns:a="http://schemas.openxmlformats.org/drawingml/2006/main">
              <a:ext uri="{FF2B5EF4-FFF2-40B4-BE49-F238E27FC236}">
                <a16:creationId xmlns:a16="http://schemas.microsoft.com/office/drawing/2014/main" id="{E8FC0F06-F22F-414C-B7E3-656F8609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09 / 应急协同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88147B34-A26F-444B-9FD6-7460BA56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应急处置从事件触发延伸到任务、资源、预案和人员协同</a:t>
            </a:r>
          </a:p>
        </p:txBody>
      </p:sp>
      <p:sp>
        <p:nvSpPr>
          <p:cNvPr id="4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F87F1989-28F8-4388-97D7-23826249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5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C245E9E9-6E0D-4A1D-B48E-9E764713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项目交流版 · 基于现有系统原型</a:t>
            </a:r>
          </a:p>
        </p:txBody>
      </p:sp>
      <p:sp>
        <p:nvSpPr>
          <p:cNvPr id="6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1FA4F46E-0402-4FD6-92D6-BD817879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7" name="emergency-tag">
            <a:extLst xmlns:a="http://schemas.openxmlformats.org/drawingml/2006/main">
              <a:ext uri="{FF2B5EF4-FFF2-40B4-BE49-F238E27FC236}">
                <a16:creationId xmlns:a16="http://schemas.microsoft.com/office/drawing/2014/main" id="{DA1DAFA1-D287-40A1-B450-734F3EDC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143000" cy="304800"/>
          </a:xfrm>
          <a:prstGeom xmlns:a="http://schemas.openxmlformats.org/drawingml/2006/main" prst="roundRect">
            <a:avLst>
              <a:gd name="adj" fmla="val 4375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跨域协同</a:t>
            </a:r>
          </a:p>
        </p:txBody>
      </p:sp>
      <p:sp>
        <p:nvSpPr>
          <p:cNvPr id="8" name="emergency-bullets">
            <a:extLst xmlns:a="http://schemas.openxmlformats.org/drawingml/2006/main">
              <a:ext uri="{FF2B5EF4-FFF2-40B4-BE49-F238E27FC236}">
                <a16:creationId xmlns:a16="http://schemas.microsoft.com/office/drawing/2014/main" id="{BD96C759-7FE0-46BC-B5CD-1A5597AD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7719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spcAft>
                <a:spcPts val="16"/>
              </a:spcAft>
              <a:buChar char="•"/>
              <a:defRPr sz="1350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按事件等级启动响应并匹配预案</a:t>
            </a:r>
          </a:p>
          <a:p xmlns:a="http://schemas.openxmlformats.org/drawingml/2006/main">
            <a:pPr marL="22" indent="-12" algn="l">
              <a:spcAft>
                <a:spcPts val="16"/>
              </a:spcAft>
              <a:buChar char="•"/>
              <a:defRPr sz="1350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任务派发、反馈、完成与超时提醒</a:t>
            </a:r>
          </a:p>
          <a:p xmlns:a="http://schemas.openxmlformats.org/drawingml/2006/main">
            <a:pPr marL="22" indent="-12" algn="l">
              <a:spcAft>
                <a:spcPts val="16"/>
              </a:spcAft>
              <a:buChar char="•"/>
              <a:defRPr sz="1350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资源调拨、到位、归还和库存锁定</a:t>
            </a:r>
          </a:p>
          <a:p xmlns:a="http://schemas.openxmlformats.org/drawingml/2006/main">
            <a:pPr marL="22" indent="-12" algn="l">
              <a:spcAft>
                <a:spcPts val="16"/>
              </a:spcAft>
              <a:buChar char="•"/>
              <a:defRPr sz="1350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现场照片、监测报告、签名与关闭审批归档</a:t>
            </a:r>
          </a:p>
        </p:txBody>
      </p:sp>
      <p:sp>
        <p:nvSpPr>
          <p:cNvPr id="9" name="emergency-insight">
            <a:extLst xmlns:a="http://schemas.openxmlformats.org/drawingml/2006/main">
              <a:ext uri="{FF2B5EF4-FFF2-40B4-BE49-F238E27FC236}">
                <a16:creationId xmlns:a16="http://schemas.microsoft.com/office/drawing/2014/main" id="{1B22A83A-8B3F-4BA4-8D74-F3F69812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37719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mergency-insight-text">
            <a:extLst xmlns:a="http://schemas.openxmlformats.org/drawingml/2006/main">
              <a:ext uri="{FF2B5EF4-FFF2-40B4-BE49-F238E27FC236}">
                <a16:creationId xmlns:a16="http://schemas.microsoft.com/office/drawing/2014/main" id="{5D0722D6-6AA9-47AF-BF65-5F8853FD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以事件为中心组织跨岗位行动和可追溯证据</a:t>
            </a:r>
          </a:p>
        </p:txBody>
      </p:sp>
      <p:sp>
        <p:nvSpPr>
          <p:cNvPr id="11" name="emergency-frame">
            <a:extLst xmlns:a="http://schemas.openxmlformats.org/drawingml/2006/main">
              <a:ext uri="{FF2B5EF4-FFF2-40B4-BE49-F238E27FC236}">
                <a16:creationId xmlns:a16="http://schemas.microsoft.com/office/drawing/2014/main" id="{BD2E1C6B-1F56-49D8-8704-BC512B67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57400"/>
            <a:ext cx="6743700" cy="39433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8ECF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f05f6ef18400e"/>
          <a:srcRect xmlns:a="http://schemas.openxmlformats.org/drawingml/2006/main" l="0" t="4186" r="0" b="41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2152650"/>
            <a:ext cx="6553200" cy="3752850"/>
          </a:xfrm>
          <a:prstGeom xmlns:a="http://schemas.openxmlformats.org/drawingml/2006/main" prst="roundRect">
            <a:avLst>
              <a:gd name="adj" fmla="val 3553"/>
            </a:avLst>
          </a:prstGeom>
        </p:spPr>
      </p:pic>
    </p:spTree>
    <p:extLst>
      <p:ext uri="{BB962C8B-B14F-4D97-AF65-F5344CB8AC3E}">
        <p14:creationId xmlns:p14="http://schemas.microsoft.com/office/powerpoint/2010/main" val="13896805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dot-10 / 建设边界">
            <a:extLst xmlns:a="http://schemas.openxmlformats.org/drawingml/2006/main">
              <a:ext uri="{FF2B5EF4-FFF2-40B4-BE49-F238E27FC236}">
                <a16:creationId xmlns:a16="http://schemas.microsoft.com/office/drawing/2014/main" id="{C9020F49-5C3D-4378-994B-081E33DD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10 / 建设边界">
            <a:extLst xmlns:a="http://schemas.openxmlformats.org/drawingml/2006/main">
              <a:ext uri="{FF2B5EF4-FFF2-40B4-BE49-F238E27FC236}">
                <a16:creationId xmlns:a16="http://schemas.microsoft.com/office/drawing/2014/main" id="{08BC4CDC-FAC4-4185-94C2-3F8C00F2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10 / 建设边界</a:t>
            </a:r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9403D2A6-81D1-4269-9F1F-A40FC7FC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7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正式项目边界清晰：现有原型验证业务，生产系统承载数据与责任</a:t>
            </a:r>
          </a:p>
        </p:txBody>
      </p:sp>
      <p:sp>
        <p:nvSpPr>
          <p:cNvPr id="4" name="title-rule-11">
            <a:extLst xmlns:a="http://schemas.openxmlformats.org/drawingml/2006/main">
              <a:ext uri="{FF2B5EF4-FFF2-40B4-BE49-F238E27FC236}">
                <a16:creationId xmlns:a16="http://schemas.microsoft.com/office/drawing/2014/main" id="{73E6AFC1-A878-41E1-BBE0-633BACFA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5" name="footer-label-11">
            <a:extLst xmlns:a="http://schemas.openxmlformats.org/drawingml/2006/main">
              <a:ext uri="{FF2B5EF4-FFF2-40B4-BE49-F238E27FC236}">
                <a16:creationId xmlns:a16="http://schemas.microsoft.com/office/drawing/2014/main" id="{A447716A-A379-4CBC-B0CB-0AD76B12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项目交流版 · 基于现有系统原型</a:t>
            </a:r>
          </a:p>
        </p:txBody>
      </p:sp>
      <p:sp>
        <p:nvSpPr>
          <p:cNvPr id="6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5BBE0263-7089-4D55-B00E-A2D5AC4F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7" name="boundary-statement">
            <a:extLst xmlns:a="http://schemas.openxmlformats.org/drawingml/2006/main">
              <a:ext uri="{FF2B5EF4-FFF2-40B4-BE49-F238E27FC236}">
                <a16:creationId xmlns:a16="http://schemas.microsoft.com/office/drawing/2014/main" id="{6925B407-19AB-4C80-BDC9-5CC9D65D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保留已验证的交互与业务规则，避免重复推翻；把生产责任放到服务端。</a:t>
            </a:r>
          </a:p>
        </p:txBody>
      </p:sp>
      <p:sp>
        <p:nvSpPr>
          <p:cNvPr id="8" name="boundary-card-0">
            <a:extLst xmlns:a="http://schemas.openxmlformats.org/drawingml/2006/main">
              <a:ext uri="{FF2B5EF4-FFF2-40B4-BE49-F238E27FC236}">
                <a16:creationId xmlns:a16="http://schemas.microsoft.com/office/drawing/2014/main" id="{867D1872-3098-4C23-B16C-8F648231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5276850" cy="2781300"/>
          </a:xfrm>
          <a:prstGeom xmlns:a="http://schemas.openxmlformats.org/drawingml/2006/main" prst="roundRect">
            <a:avLst>
              <a:gd name="adj" fmla="val 616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undary-tag-0">
            <a:extLst xmlns:a="http://schemas.openxmlformats.org/drawingml/2006/main">
              <a:ext uri="{FF2B5EF4-FFF2-40B4-BE49-F238E27FC236}">
                <a16:creationId xmlns:a16="http://schemas.microsoft.com/office/drawing/2014/main" id="{94B55A8E-B91D-40F7-836F-CC886BF8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CURRENT</a:t>
            </a:r>
          </a:p>
        </p:txBody>
      </p:sp>
      <p:sp>
        <p:nvSpPr>
          <p:cNvPr id="10" name="boundary-title-0">
            <a:extLst xmlns:a="http://schemas.openxmlformats.org/drawingml/2006/main">
              <a:ext uri="{FF2B5EF4-FFF2-40B4-BE49-F238E27FC236}">
                <a16:creationId xmlns:a16="http://schemas.microsoft.com/office/drawing/2014/main" id="{4E616E13-1CA6-484E-9E6D-45FEE3B8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现有原型</a:t>
            </a:r>
          </a:p>
        </p:txBody>
      </p:sp>
      <p:sp>
        <p:nvSpPr>
          <p:cNvPr id="11" name="boundary-list-0">
            <a:extLst xmlns:a="http://schemas.openxmlformats.org/drawingml/2006/main">
              <a:ext uri="{FF2B5EF4-FFF2-40B4-BE49-F238E27FC236}">
                <a16:creationId xmlns:a16="http://schemas.microsoft.com/office/drawing/2014/main" id="{057F3B7D-CCAE-4B59-8527-8D148E20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4743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1200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Mock / 本地状态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1200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前端审批演示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1200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模拟监测与通信</a:t>
            </a:r>
          </a:p>
        </p:txBody>
      </p:sp>
      <p:sp>
        <p:nvSpPr>
          <p:cNvPr id="12" name="boundary-rule-0">
            <a:extLst xmlns:a="http://schemas.openxmlformats.org/drawingml/2006/main">
              <a:ext uri="{FF2B5EF4-FFF2-40B4-BE49-F238E27FC236}">
                <a16:creationId xmlns:a16="http://schemas.microsoft.com/office/drawing/2014/main" id="{F9F8E8BE-919A-47ED-BF5B-8AE15E4A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74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3" name="boundary-note-0">
            <a:extLst xmlns:a="http://schemas.openxmlformats.org/drawingml/2006/main">
              <a:ext uri="{FF2B5EF4-FFF2-40B4-BE49-F238E27FC236}">
                <a16:creationId xmlns:a16="http://schemas.microsoft.com/office/drawing/2014/main" id="{A5861DE6-2228-41D8-A6DA-235E1453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474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用于需求澄清、流程验证、界面确认</a:t>
            </a:r>
          </a:p>
        </p:txBody>
      </p:sp>
      <p:sp>
        <p:nvSpPr>
          <p:cNvPr id="14" name="boundary-card-1">
            <a:extLst xmlns:a="http://schemas.openxmlformats.org/drawingml/2006/main">
              <a:ext uri="{FF2B5EF4-FFF2-40B4-BE49-F238E27FC236}">
                <a16:creationId xmlns:a16="http://schemas.microsoft.com/office/drawing/2014/main" id="{9B147C0D-EA54-40E7-A839-01754262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90800"/>
            <a:ext cx="5276850" cy="2781300"/>
          </a:xfrm>
          <a:prstGeom xmlns:a="http://schemas.openxmlformats.org/drawingml/2006/main" prst="roundRect">
            <a:avLst>
              <a:gd name="adj" fmla="val 616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undary-tag-1">
            <a:extLst xmlns:a="http://schemas.openxmlformats.org/drawingml/2006/main">
              <a:ext uri="{FF2B5EF4-FFF2-40B4-BE49-F238E27FC236}">
                <a16:creationId xmlns:a16="http://schemas.microsoft.com/office/drawing/2014/main" id="{41332B10-AEAB-499C-99B5-B6612DAE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194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TARGET</a:t>
            </a:r>
          </a:p>
        </p:txBody>
      </p:sp>
      <p:sp>
        <p:nvSpPr>
          <p:cNvPr id="16" name="boundary-title-1">
            <a:extLst xmlns:a="http://schemas.openxmlformats.org/drawingml/2006/main">
              <a:ext uri="{FF2B5EF4-FFF2-40B4-BE49-F238E27FC236}">
                <a16:creationId xmlns:a16="http://schemas.microsoft.com/office/drawing/2014/main" id="{C1E07EF3-C065-4CC6-88EE-8C88D797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正式系统</a:t>
            </a:r>
          </a:p>
        </p:txBody>
      </p:sp>
      <p:sp>
        <p:nvSpPr>
          <p:cNvPr id="17" name="boundary-list-1">
            <a:extLst xmlns:a="http://schemas.openxmlformats.org/drawingml/2006/main">
              <a:ext uri="{FF2B5EF4-FFF2-40B4-BE49-F238E27FC236}">
                <a16:creationId xmlns:a16="http://schemas.microsoft.com/office/drawing/2014/main" id="{3104409A-1F58-4959-8614-FE3A1A8C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86200"/>
            <a:ext cx="4743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1200" b="0">
                <a:solidFill>
                  <a:srgbClr val="E3E9F2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3E9F2"/>
                </a:solidFill>
                <a:latin typeface="PingFang SC"/>
                <a:ea typeface="PingFang SC"/>
                <a:cs typeface="PingFang SC"/>
              </a:rPr>
              <a:t>PostgreSQL 持久化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1200" b="0">
                <a:solidFill>
                  <a:srgbClr val="E3E9F2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3E9F2"/>
                </a:solidFill>
                <a:latin typeface="PingFang SC"/>
                <a:ea typeface="PingFang SC"/>
                <a:cs typeface="PingFang SC"/>
              </a:rPr>
              <a:t>组织、角色与数据范围</a:t>
            </a:r>
          </a:p>
          <a:p xmlns:a="http://schemas.openxmlformats.org/drawingml/2006/main">
            <a:pPr marL="22" indent="-12" algn="l">
              <a:spcAft>
                <a:spcPts val="7"/>
              </a:spcAft>
              <a:buChar char="•"/>
              <a:defRPr sz="1200" b="0">
                <a:solidFill>
                  <a:srgbClr val="E3E9F2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3E9F2"/>
                </a:solidFill>
                <a:latin typeface="PingFang SC"/>
                <a:ea typeface="PingFang SC"/>
                <a:cs typeface="PingFang SC"/>
              </a:rPr>
              <a:t>服务端状态机、审计与文件证据</a:t>
            </a:r>
          </a:p>
        </p:txBody>
      </p:sp>
      <p:sp>
        <p:nvSpPr>
          <p:cNvPr id="18" name="boundary-rule-1">
            <a:extLst xmlns:a="http://schemas.openxmlformats.org/drawingml/2006/main">
              <a:ext uri="{FF2B5EF4-FFF2-40B4-BE49-F238E27FC236}">
                <a16:creationId xmlns:a16="http://schemas.microsoft.com/office/drawing/2014/main" id="{4130DF13-1C9C-4EA5-B92B-C57D2E87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53000"/>
            <a:ext cx="474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E506A"/>
            </a:solidFill>
            <a:prstDash val="solid"/>
          </a:ln>
        </p:spPr>
      </p:sp>
      <p:sp>
        <p:nvSpPr>
          <p:cNvPr id="19" name="boundary-note-1">
            <a:extLst xmlns:a="http://schemas.openxmlformats.org/drawingml/2006/main">
              <a:ext uri="{FF2B5EF4-FFF2-40B4-BE49-F238E27FC236}">
                <a16:creationId xmlns:a16="http://schemas.microsoft.com/office/drawing/2014/main" id="{EA8E9940-2AEB-489B-A5F9-30B032B8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95875"/>
            <a:ext cx="474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用于生产运行、合规追溯、跨系统集成</a:t>
            </a:r>
          </a:p>
        </p:txBody>
      </p:sp>
      <p:sp>
        <p:nvSpPr>
          <p:cNvPr id="20" name="boundary-footer">
            <a:extLst xmlns:a="http://schemas.openxmlformats.org/drawingml/2006/main">
              <a:ext uri="{FF2B5EF4-FFF2-40B4-BE49-F238E27FC236}">
                <a16:creationId xmlns:a16="http://schemas.microsoft.com/office/drawing/2014/main" id="{23834B73-EABD-4E12-B3E4-BD37AD4F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最终范围以双方确认的需求规格、接口清单和验收口径为准</a:t>
            </a:r>
          </a:p>
        </p:txBody>
      </p:sp>
    </p:spTree>
    <p:extLst>
      <p:ext uri="{BB962C8B-B14F-4D97-AF65-F5344CB8AC3E}">
        <p14:creationId xmlns:p14="http://schemas.microsoft.com/office/powerpoint/2010/main" val="7986463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dot-11 / 技术架构">
            <a:extLst xmlns:a="http://schemas.openxmlformats.org/drawingml/2006/main">
              <a:ext uri="{FF2B5EF4-FFF2-40B4-BE49-F238E27FC236}">
                <a16:creationId xmlns:a16="http://schemas.microsoft.com/office/drawing/2014/main" id="{F5335872-E52A-4797-AA41-E4C918EB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11 / 技术架构">
            <a:extLst xmlns:a="http://schemas.openxmlformats.org/drawingml/2006/main">
              <a:ext uri="{FF2B5EF4-FFF2-40B4-BE49-F238E27FC236}">
                <a16:creationId xmlns:a16="http://schemas.microsoft.com/office/drawing/2014/main" id="{A2EF16F9-D782-4060-AA2F-5C98B6F5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11 / 技术架构</a:t>
            </a:r>
          </a:p>
        </p:txBody>
      </p:sp>
      <p:sp>
        <p:nvSpPr>
          <p:cNvPr id="3" name="title-12">
            <a:extLst xmlns:a="http://schemas.openxmlformats.org/drawingml/2006/main">
              <a:ext uri="{FF2B5EF4-FFF2-40B4-BE49-F238E27FC236}">
                <a16:creationId xmlns:a16="http://schemas.microsoft.com/office/drawing/2014/main" id="{9CBA739B-BAFE-41D6-9A03-5B4F77FA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6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模块化单体更适合一期建设，数据库与中间件各司其职</a:t>
            </a:r>
          </a:p>
        </p:txBody>
      </p:sp>
      <p:sp>
        <p:nvSpPr>
          <p:cNvPr id="4" name="title-rule-12">
            <a:extLst xmlns:a="http://schemas.openxmlformats.org/drawingml/2006/main">
              <a:ext uri="{FF2B5EF4-FFF2-40B4-BE49-F238E27FC236}">
                <a16:creationId xmlns:a16="http://schemas.microsoft.com/office/drawing/2014/main" id="{DAC56419-ECB5-4BB9-BFD5-2F9478D0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5" name="footer-label-12">
            <a:extLst xmlns:a="http://schemas.openxmlformats.org/drawingml/2006/main">
              <a:ext uri="{FF2B5EF4-FFF2-40B4-BE49-F238E27FC236}">
                <a16:creationId xmlns:a16="http://schemas.microsoft.com/office/drawing/2014/main" id="{2B013DB0-9385-4EC2-A028-18D572F5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项目交流版 · 基于现有系统原型</a:t>
            </a:r>
          </a:p>
        </p:txBody>
      </p:sp>
      <p:sp>
        <p:nvSpPr>
          <p:cNvPr id="6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2B78BE5F-0890-4966-B4FA-AF429123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7" name="architecture-principle">
            <a:extLst xmlns:a="http://schemas.openxmlformats.org/drawingml/2006/main">
              <a:ext uri="{FF2B5EF4-FFF2-40B4-BE49-F238E27FC236}">
                <a16:creationId xmlns:a16="http://schemas.microsoft.com/office/drawing/2014/main" id="{4ED40E51-7B10-4342-A1C0-FC28FCB8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24050"/>
            <a:ext cx="38481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一期不建议拆分微服务或引入通用 BPMN 设计器</a:t>
            </a:r>
          </a:p>
        </p:txBody>
      </p:sp>
      <p:sp>
        <p:nvSpPr>
          <p:cNvPr id="8" name="architecture-band-0">
            <a:extLst xmlns:a="http://schemas.openxmlformats.org/drawingml/2006/main">
              <a:ext uri="{FF2B5EF4-FFF2-40B4-BE49-F238E27FC236}">
                <a16:creationId xmlns:a16="http://schemas.microsoft.com/office/drawing/2014/main" id="{1225BDDF-8D51-48E8-B968-C7D7ECEA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08204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rchitecture-band-1">
            <a:extLst xmlns:a="http://schemas.openxmlformats.org/drawingml/2006/main">
              <a:ext uri="{FF2B5EF4-FFF2-40B4-BE49-F238E27FC236}">
                <a16:creationId xmlns:a16="http://schemas.microsoft.com/office/drawing/2014/main" id="{4CE55AD5-E7CE-4CCE-A14A-232FD62A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rchitecture-band-2">
            <a:extLst xmlns:a="http://schemas.openxmlformats.org/drawingml/2006/main">
              <a:ext uri="{FF2B5EF4-FFF2-40B4-BE49-F238E27FC236}">
                <a16:creationId xmlns:a16="http://schemas.microsoft.com/office/drawing/2014/main" id="{571AF8E0-48B3-425E-8234-AB20CBF7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8204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rchitecture-band-3">
            <a:extLst xmlns:a="http://schemas.openxmlformats.org/drawingml/2006/main">
              <a:ext uri="{FF2B5EF4-FFF2-40B4-BE49-F238E27FC236}">
                <a16:creationId xmlns:a16="http://schemas.microsoft.com/office/drawing/2014/main" id="{AF4F78B1-6E95-4A58-83AF-00A950B6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8ECF2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8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96000" y="30670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39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39814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40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096000" y="48958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</a:ln>
        </p:spPr>
      </p:cxnSp>
      <p:sp>
        <p:nvSpPr>
          <p:cNvPr id="15" name="architecture-label-0">
            <a:extLst xmlns:a="http://schemas.openxmlformats.org/drawingml/2006/main">
              <a:ext uri="{FF2B5EF4-FFF2-40B4-BE49-F238E27FC236}">
                <a16:creationId xmlns:a16="http://schemas.microsoft.com/office/drawing/2014/main" id="{D2A34926-E92B-4202-83EB-391FC236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体验层</a:t>
            </a:r>
          </a:p>
        </p:txBody>
      </p:sp>
      <p:sp>
        <p:nvSpPr>
          <p:cNvPr id="16" name="architecture-divider-0">
            <a:extLst xmlns:a="http://schemas.openxmlformats.org/drawingml/2006/main">
              <a:ext uri="{FF2B5EF4-FFF2-40B4-BE49-F238E27FC236}">
                <a16:creationId xmlns:a16="http://schemas.microsoft.com/office/drawing/2014/main" id="{E612B82A-AB59-4CAF-9BC6-890BD177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717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506A"/>
            </a:solidFill>
            <a:prstDash val="solid"/>
          </a:ln>
        </p:spPr>
      </p:sp>
      <p:sp>
        <p:nvSpPr>
          <p:cNvPr id="17" name="architecture-value-0">
            <a:extLst xmlns:a="http://schemas.openxmlformats.org/drawingml/2006/main">
              <a:ext uri="{FF2B5EF4-FFF2-40B4-BE49-F238E27FC236}">
                <a16:creationId xmlns:a16="http://schemas.microsoft.com/office/drawing/2014/main" id="{62346FE1-1107-4D85-868E-6541ED3B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289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管理端  ·  展示大屏  ·  移动端摘要</a:t>
            </a:r>
          </a:p>
        </p:txBody>
      </p:sp>
      <p:sp>
        <p:nvSpPr>
          <p:cNvPr id="18" name="architecture-label-1">
            <a:extLst xmlns:a="http://schemas.openxmlformats.org/drawingml/2006/main">
              <a:ext uri="{FF2B5EF4-FFF2-40B4-BE49-F238E27FC236}">
                <a16:creationId xmlns:a16="http://schemas.microsoft.com/office/drawing/2014/main" id="{73F24B09-7A98-427C-9BAB-F073FAD4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业务层</a:t>
            </a:r>
          </a:p>
        </p:txBody>
      </p:sp>
      <p:sp>
        <p:nvSpPr>
          <p:cNvPr id="19" name="architecture-divider-1">
            <a:extLst xmlns:a="http://schemas.openxmlformats.org/drawingml/2006/main">
              <a:ext uri="{FF2B5EF4-FFF2-40B4-BE49-F238E27FC236}">
                <a16:creationId xmlns:a16="http://schemas.microsoft.com/office/drawing/2014/main" id="{52945723-F711-4EB1-BFC1-7DC09D7B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528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20" name="architecture-value-1">
            <a:extLst xmlns:a="http://schemas.openxmlformats.org/drawingml/2006/main">
              <a:ext uri="{FF2B5EF4-FFF2-40B4-BE49-F238E27FC236}">
                <a16:creationId xmlns:a16="http://schemas.microsoft.com/office/drawing/2014/main" id="{DB1A1DD8-828C-4EB3-890A-C4A08F26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0995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风险  ·  隐患  ·  许可  ·  预警  ·  应急  ·  复盘</a:t>
            </a:r>
          </a:p>
        </p:txBody>
      </p:sp>
      <p:sp>
        <p:nvSpPr>
          <p:cNvPr id="21" name="architecture-label-2">
            <a:extLst xmlns:a="http://schemas.openxmlformats.org/drawingml/2006/main">
              <a:ext uri="{FF2B5EF4-FFF2-40B4-BE49-F238E27FC236}">
                <a16:creationId xmlns:a16="http://schemas.microsoft.com/office/drawing/2014/main" id="{BAC8470C-214B-4CE6-A64E-DBAA6629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平台层</a:t>
            </a:r>
          </a:p>
        </p:txBody>
      </p:sp>
      <p:sp>
        <p:nvSpPr>
          <p:cNvPr id="22" name="architecture-divider-2">
            <a:extLst xmlns:a="http://schemas.openxmlformats.org/drawingml/2006/main">
              <a:ext uri="{FF2B5EF4-FFF2-40B4-BE49-F238E27FC236}">
                <a16:creationId xmlns:a16="http://schemas.microsoft.com/office/drawing/2014/main" id="{21509A05-30B6-4C5D-9AB3-D901A286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672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23" name="architecture-value-2">
            <a:extLst xmlns:a="http://schemas.openxmlformats.org/drawingml/2006/main">
              <a:ext uri="{FF2B5EF4-FFF2-40B4-BE49-F238E27FC236}">
                <a16:creationId xmlns:a16="http://schemas.microsoft.com/office/drawing/2014/main" id="{A9FF1276-76AE-4CA8-8593-B6D00BD5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2435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组织权限  ·  流程待办  ·  文件证据  ·  审计日志  ·  通知</a:t>
            </a:r>
          </a:p>
        </p:txBody>
      </p:sp>
      <p:sp>
        <p:nvSpPr>
          <p:cNvPr id="24" name="architecture-label-3">
            <a:extLst xmlns:a="http://schemas.openxmlformats.org/drawingml/2006/main">
              <a:ext uri="{FF2B5EF4-FFF2-40B4-BE49-F238E27FC236}">
                <a16:creationId xmlns:a16="http://schemas.microsoft.com/office/drawing/2014/main" id="{7C90B1A3-7B61-4DA8-9CDC-CC256176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数据与集成</a:t>
            </a:r>
          </a:p>
        </p:txBody>
      </p:sp>
      <p:sp>
        <p:nvSpPr>
          <p:cNvPr id="25" name="architecture-divider-3">
            <a:extLst xmlns:a="http://schemas.openxmlformats.org/drawingml/2006/main">
              <a:ext uri="{FF2B5EF4-FFF2-40B4-BE49-F238E27FC236}">
                <a16:creationId xmlns:a16="http://schemas.microsoft.com/office/drawing/2014/main" id="{96AE8AE0-972A-42E2-9323-B0C1AE69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81600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26" name="architecture-value-3">
            <a:extLst xmlns:a="http://schemas.openxmlformats.org/drawingml/2006/main">
              <a:ext uri="{FF2B5EF4-FFF2-40B4-BE49-F238E27FC236}">
                <a16:creationId xmlns:a16="http://schemas.microsoft.com/office/drawing/2014/main" id="{FCAAF4F2-2247-4862-9363-BB1291A7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2006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PostgreSQL / Prisma  ·  Redis / BullMQ  ·  MinIO / S3  ·  WebSocket / MQTT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GDS / VOC / MES / GIS / 视频 / HR / ERP / EAM</a:t>
            </a:r>
          </a:p>
        </p:txBody>
      </p:sp>
    </p:spTree>
    <p:extLst>
      <p:ext uri="{BB962C8B-B14F-4D97-AF65-F5344CB8AC3E}">
        <p14:creationId xmlns:p14="http://schemas.microsoft.com/office/powerpoint/2010/main" val="8085702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dot-12 / 实施计划">
            <a:extLst xmlns:a="http://schemas.openxmlformats.org/drawingml/2006/main">
              <a:ext uri="{FF2B5EF4-FFF2-40B4-BE49-F238E27FC236}">
                <a16:creationId xmlns:a16="http://schemas.microsoft.com/office/drawing/2014/main" id="{18AB27A4-0B03-4B10-AB2A-B4B919EC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12 / 实施计划">
            <a:extLst xmlns:a="http://schemas.openxmlformats.org/drawingml/2006/main">
              <a:ext uri="{FF2B5EF4-FFF2-40B4-BE49-F238E27FC236}">
                <a16:creationId xmlns:a16="http://schemas.microsoft.com/office/drawing/2014/main" id="{1704CF93-5B5E-43D5-8A6E-D3E51D92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12 / 实施计划</a:t>
            </a:r>
          </a:p>
        </p:txBody>
      </p:sp>
      <p:sp>
        <p:nvSpPr>
          <p:cNvPr id="3" name="title-13">
            <a:extLst xmlns:a="http://schemas.openxmlformats.org/drawingml/2006/main">
              <a:ext uri="{FF2B5EF4-FFF2-40B4-BE49-F238E27FC236}">
                <a16:creationId xmlns:a16="http://schemas.microsoft.com/office/drawing/2014/main" id="{73619EA6-7CB2-4611-BC00-F0237925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26 周按六阶段推进，里程碑同时锁定业务闭环与可验收成果</a:t>
            </a:r>
          </a:p>
        </p:txBody>
      </p:sp>
      <p:sp>
        <p:nvSpPr>
          <p:cNvPr id="4" name="title-rule-13">
            <a:extLst xmlns:a="http://schemas.openxmlformats.org/drawingml/2006/main">
              <a:ext uri="{FF2B5EF4-FFF2-40B4-BE49-F238E27FC236}">
                <a16:creationId xmlns:a16="http://schemas.microsoft.com/office/drawing/2014/main" id="{C027CD7E-6938-4374-87C6-51326465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5" name="footer-label-13">
            <a:extLst xmlns:a="http://schemas.openxmlformats.org/drawingml/2006/main">
              <a:ext uri="{FF2B5EF4-FFF2-40B4-BE49-F238E27FC236}">
                <a16:creationId xmlns:a16="http://schemas.microsoft.com/office/drawing/2014/main" id="{FE6C8CB6-1305-4646-B6AB-E5019326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项目交流版 · 基于现有系统原型</a:t>
            </a:r>
          </a:p>
        </p:txBody>
      </p:sp>
      <p:sp>
        <p:nvSpPr>
          <p:cNvPr id="6" name="footer-page-13">
            <a:extLst xmlns:a="http://schemas.openxmlformats.org/drawingml/2006/main">
              <a:ext uri="{FF2B5EF4-FFF2-40B4-BE49-F238E27FC236}">
                <a16:creationId xmlns:a16="http://schemas.microsoft.com/office/drawing/2014/main" id="{DA8BE0AB-8063-4BC8-9B07-D140CFE5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7" name="roadmap-card-0">
            <a:extLst xmlns:a="http://schemas.openxmlformats.org/drawingml/2006/main">
              <a:ext uri="{FF2B5EF4-FFF2-40B4-BE49-F238E27FC236}">
                <a16:creationId xmlns:a16="http://schemas.microsoft.com/office/drawing/2014/main" id="{293FA266-4F95-4B85-B1F6-7CB21B35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200400" cy="3124200"/>
          </a:xfrm>
          <a:prstGeom xmlns:a="http://schemas.openxmlformats.org/drawingml/2006/main" prst="roundRect">
            <a:avLst>
              <a:gd name="adj" fmla="val 548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oadmap-accent-0">
            <a:extLst xmlns:a="http://schemas.openxmlformats.org/drawingml/2006/main">
              <a:ext uri="{FF2B5EF4-FFF2-40B4-BE49-F238E27FC236}">
                <a16:creationId xmlns:a16="http://schemas.microsoft.com/office/drawing/2014/main" id="{46994395-0EC6-4E9D-8641-15DD482F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2004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oadmap-range-0">
            <a:extLst xmlns:a="http://schemas.openxmlformats.org/drawingml/2006/main">
              <a:ext uri="{FF2B5EF4-FFF2-40B4-BE49-F238E27FC236}">
                <a16:creationId xmlns:a16="http://schemas.microsoft.com/office/drawing/2014/main" id="{BC468E66-3EF8-4B3F-8125-DB2BBF5B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第 1–6 周</a:t>
            </a:r>
          </a:p>
        </p:txBody>
      </p:sp>
      <p:sp>
        <p:nvSpPr>
          <p:cNvPr id="10" name="roadmap-title-0">
            <a:extLst xmlns:a="http://schemas.openxmlformats.org/drawingml/2006/main">
              <a:ext uri="{FF2B5EF4-FFF2-40B4-BE49-F238E27FC236}">
                <a16:creationId xmlns:a16="http://schemas.microsoft.com/office/drawing/2014/main" id="{A475DBA9-E51D-417A-82F1-E3108DE7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2705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0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启动与平台底座</a:t>
            </a:r>
          </a:p>
        </p:txBody>
      </p:sp>
      <p:sp>
        <p:nvSpPr>
          <p:cNvPr id="11" name="roadmap-rule-0">
            <a:extLst xmlns:a="http://schemas.openxmlformats.org/drawingml/2006/main">
              <a:ext uri="{FF2B5EF4-FFF2-40B4-BE49-F238E27FC236}">
                <a16:creationId xmlns:a16="http://schemas.microsoft.com/office/drawing/2014/main" id="{1ABBF16B-F6A4-4DC7-90DA-FE1B97AF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270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2" name="roadmap-body-0">
            <a:extLst xmlns:a="http://schemas.openxmlformats.org/drawingml/2006/main">
              <a:ext uri="{FF2B5EF4-FFF2-40B4-BE49-F238E27FC236}">
                <a16:creationId xmlns:a16="http://schemas.microsoft.com/office/drawing/2014/main" id="{62F0D4DF-AC3E-4D0A-AFE9-1E8149D8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76700"/>
            <a:ext cx="2705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阶段一  启动与详细设计  2周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阶段二  平台底座建设      4周</a:t>
            </a:r>
          </a:p>
        </p:txBody>
      </p:sp>
      <p:sp>
        <p:nvSpPr>
          <p:cNvPr id="13" name="roadmap-foot-0">
            <a:extLst xmlns:a="http://schemas.openxmlformats.org/drawingml/2006/main">
              <a:ext uri="{FF2B5EF4-FFF2-40B4-BE49-F238E27FC236}">
                <a16:creationId xmlns:a16="http://schemas.microsoft.com/office/drawing/2014/main" id="{F9AE6FF0-CE90-447B-9EED-60D6E60B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里程碑：需求基线</a:t>
            </a:r>
          </a:p>
        </p:txBody>
      </p:sp>
      <p:sp>
        <p:nvSpPr>
          <p:cNvPr id="14" name="roadmap-card-1">
            <a:extLst xmlns:a="http://schemas.openxmlformats.org/drawingml/2006/main">
              <a:ext uri="{FF2B5EF4-FFF2-40B4-BE49-F238E27FC236}">
                <a16:creationId xmlns:a16="http://schemas.microsoft.com/office/drawing/2014/main" id="{65D1D799-4688-4DFE-89DB-22B2B4EC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52650"/>
            <a:ext cx="3200400" cy="3124200"/>
          </a:xfrm>
          <a:prstGeom xmlns:a="http://schemas.openxmlformats.org/drawingml/2006/main" prst="roundRect">
            <a:avLst>
              <a:gd name="adj" fmla="val 548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oadmap-accent-1">
            <a:extLst xmlns:a="http://schemas.openxmlformats.org/drawingml/2006/main">
              <a:ext uri="{FF2B5EF4-FFF2-40B4-BE49-F238E27FC236}">
                <a16:creationId xmlns:a16="http://schemas.microsoft.com/office/drawing/2014/main" id="{ED509C97-06D4-4C4A-ACB8-81B29A20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52650"/>
            <a:ext cx="32004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2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oadmap-range-1">
            <a:extLst xmlns:a="http://schemas.openxmlformats.org/drawingml/2006/main">
              <a:ext uri="{FF2B5EF4-FFF2-40B4-BE49-F238E27FC236}">
                <a16:creationId xmlns:a16="http://schemas.microsoft.com/office/drawing/2014/main" id="{8DCDD0CF-DDDD-4AF1-BC12-CA488B4B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3A2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3A26D"/>
                </a:solidFill>
                <a:latin typeface="PingFang SC"/>
                <a:ea typeface="PingFang SC"/>
                <a:cs typeface="PingFang SC"/>
              </a:rPr>
              <a:t>第 7–20 周</a:t>
            </a:r>
          </a:p>
        </p:txBody>
      </p:sp>
      <p:sp>
        <p:nvSpPr>
          <p:cNvPr id="17" name="roadmap-title-1">
            <a:extLst xmlns:a="http://schemas.openxmlformats.org/drawingml/2006/main">
              <a:ext uri="{FF2B5EF4-FFF2-40B4-BE49-F238E27FC236}">
                <a16:creationId xmlns:a16="http://schemas.microsoft.com/office/drawing/2014/main" id="{A4894C27-9073-4359-8294-8195DB2B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9900"/>
            <a:ext cx="2705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0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核心闭环与集成</a:t>
            </a:r>
          </a:p>
        </p:txBody>
      </p:sp>
      <p:sp>
        <p:nvSpPr>
          <p:cNvPr id="18" name="roadmap-rule-1">
            <a:extLst xmlns:a="http://schemas.openxmlformats.org/drawingml/2006/main">
              <a:ext uri="{FF2B5EF4-FFF2-40B4-BE49-F238E27FC236}">
                <a16:creationId xmlns:a16="http://schemas.microsoft.com/office/drawing/2014/main" id="{652DE56B-0DAA-42D3-A9B2-CD76F0B3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48100"/>
            <a:ext cx="270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9" name="roadmap-body-1">
            <a:extLst xmlns:a="http://schemas.openxmlformats.org/drawingml/2006/main">
              <a:ext uri="{FF2B5EF4-FFF2-40B4-BE49-F238E27FC236}">
                <a16:creationId xmlns:a16="http://schemas.microsoft.com/office/drawing/2014/main" id="{B3C91CF3-BF58-4090-9CA5-E9EA6711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76700"/>
            <a:ext cx="2705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阶段三  核心业务闭环      8周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阶段四  应急与系统集成    6周</a:t>
            </a:r>
          </a:p>
        </p:txBody>
      </p:sp>
      <p:sp>
        <p:nvSpPr>
          <p:cNvPr id="20" name="roadmap-foot-1">
            <a:extLst xmlns:a="http://schemas.openxmlformats.org/drawingml/2006/main">
              <a:ext uri="{FF2B5EF4-FFF2-40B4-BE49-F238E27FC236}">
                <a16:creationId xmlns:a16="http://schemas.microsoft.com/office/drawing/2014/main" id="{20A80E14-3922-426E-9EAD-49305984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1490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3A26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3A26D"/>
                </a:solidFill>
                <a:latin typeface="PingFang SC"/>
                <a:ea typeface="PingFang SC"/>
                <a:cs typeface="PingFang SC"/>
              </a:rPr>
              <a:t>里程碑：闭环版本</a:t>
            </a:r>
          </a:p>
        </p:txBody>
      </p:sp>
      <p:sp>
        <p:nvSpPr>
          <p:cNvPr id="21" name="roadmap-card-2">
            <a:extLst xmlns:a="http://schemas.openxmlformats.org/drawingml/2006/main">
              <a:ext uri="{FF2B5EF4-FFF2-40B4-BE49-F238E27FC236}">
                <a16:creationId xmlns:a16="http://schemas.microsoft.com/office/drawing/2014/main" id="{5252B2AA-9347-409A-A775-645AFF4E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52650"/>
            <a:ext cx="3200400" cy="3124200"/>
          </a:xfrm>
          <a:prstGeom xmlns:a="http://schemas.openxmlformats.org/drawingml/2006/main" prst="roundRect">
            <a:avLst>
              <a:gd name="adj" fmla="val 548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oadmap-accent-2">
            <a:extLst xmlns:a="http://schemas.openxmlformats.org/drawingml/2006/main">
              <a:ext uri="{FF2B5EF4-FFF2-40B4-BE49-F238E27FC236}">
                <a16:creationId xmlns:a16="http://schemas.microsoft.com/office/drawing/2014/main" id="{28A71813-4D89-45EA-934A-07A5B225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52650"/>
            <a:ext cx="32004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oadmap-range-2">
            <a:extLst xmlns:a="http://schemas.openxmlformats.org/drawingml/2006/main">
              <a:ext uri="{FF2B5EF4-FFF2-40B4-BE49-F238E27FC236}">
                <a16:creationId xmlns:a16="http://schemas.microsoft.com/office/drawing/2014/main" id="{EFB7B027-88E9-4947-A48E-CFBE8456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第 21–26 周</a:t>
            </a:r>
          </a:p>
        </p:txBody>
      </p:sp>
      <p:sp>
        <p:nvSpPr>
          <p:cNvPr id="24" name="roadmap-title-2">
            <a:extLst xmlns:a="http://schemas.openxmlformats.org/drawingml/2006/main">
              <a:ext uri="{FF2B5EF4-FFF2-40B4-BE49-F238E27FC236}">
                <a16:creationId xmlns:a16="http://schemas.microsoft.com/office/drawing/2014/main" id="{93E83EBB-FE63-431A-B83D-43056283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09900"/>
            <a:ext cx="2705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试点上线与验收</a:t>
            </a:r>
          </a:p>
        </p:txBody>
      </p:sp>
      <p:sp>
        <p:nvSpPr>
          <p:cNvPr id="25" name="roadmap-rule-2">
            <a:extLst xmlns:a="http://schemas.openxmlformats.org/drawingml/2006/main">
              <a:ext uri="{FF2B5EF4-FFF2-40B4-BE49-F238E27FC236}">
                <a16:creationId xmlns:a16="http://schemas.microsoft.com/office/drawing/2014/main" id="{F9D5DA23-5B1E-4FB7-B1FE-9FEA9C6F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48100"/>
            <a:ext cx="270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06A"/>
            </a:solidFill>
            <a:prstDash val="solid"/>
          </a:ln>
        </p:spPr>
      </p:sp>
      <p:sp>
        <p:nvSpPr>
          <p:cNvPr id="26" name="roadmap-body-2">
            <a:extLst xmlns:a="http://schemas.openxmlformats.org/drawingml/2006/main">
              <a:ext uri="{FF2B5EF4-FFF2-40B4-BE49-F238E27FC236}">
                <a16:creationId xmlns:a16="http://schemas.microsoft.com/office/drawing/2014/main" id="{070902EF-F3DB-400B-AA84-F8AEEA65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76700"/>
            <a:ext cx="2705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DCE4F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CE4F0"/>
                </a:solidFill>
                <a:latin typeface="PingFang SC"/>
                <a:ea typeface="PingFang SC"/>
                <a:cs typeface="PingFang SC"/>
              </a:rPr>
              <a:t>阶段五  测试与试点        4周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DCE4F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CE4F0"/>
                </a:solidFill>
                <a:latin typeface="PingFang SC"/>
                <a:ea typeface="PingFang SC"/>
                <a:cs typeface="PingFang SC"/>
              </a:rPr>
              <a:t>阶段六  上线与验收        2周</a:t>
            </a:r>
          </a:p>
        </p:txBody>
      </p:sp>
      <p:sp>
        <p:nvSpPr>
          <p:cNvPr id="27" name="roadmap-foot-2">
            <a:extLst xmlns:a="http://schemas.openxmlformats.org/drawingml/2006/main">
              <a:ext uri="{FF2B5EF4-FFF2-40B4-BE49-F238E27FC236}">
                <a16:creationId xmlns:a16="http://schemas.microsoft.com/office/drawing/2014/main" id="{E744569C-FCFB-45B0-BC20-6898B0F8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1490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里程碑：上线版本</a:t>
            </a:r>
          </a:p>
        </p:txBody>
      </p:sp>
      <p:sp>
        <p:nvSpPr>
          <p:cNvPr id="28" name="roadmap-note">
            <a:extLst xmlns:a="http://schemas.openxmlformats.org/drawingml/2006/main">
              <a:ext uri="{FF2B5EF4-FFF2-40B4-BE49-F238E27FC236}">
                <a16:creationId xmlns:a16="http://schemas.microsoft.com/office/drawing/2014/main" id="{1D0A606E-F5A8-4DDD-AF8F-3D36F1FE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接口联调、前端迁移和测试可并行推进；周期取决于甲方接口、数据和环境准备情况。</a:t>
            </a:r>
          </a:p>
        </p:txBody>
      </p:sp>
    </p:spTree>
    <p:extLst>
      <p:ext uri="{BB962C8B-B14F-4D97-AF65-F5344CB8AC3E}">
        <p14:creationId xmlns:p14="http://schemas.microsoft.com/office/powerpoint/2010/main" val="13264685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dot-13 / 验收建议">
            <a:extLst xmlns:a="http://schemas.openxmlformats.org/drawingml/2006/main">
              <a:ext uri="{FF2B5EF4-FFF2-40B4-BE49-F238E27FC236}">
                <a16:creationId xmlns:a16="http://schemas.microsoft.com/office/drawing/2014/main" id="{69192A72-0D62-44AD-AFB8-74842CD8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13 / 验收建议">
            <a:extLst xmlns:a="http://schemas.openxmlformats.org/drawingml/2006/main">
              <a:ext uri="{FF2B5EF4-FFF2-40B4-BE49-F238E27FC236}">
                <a16:creationId xmlns:a16="http://schemas.microsoft.com/office/drawing/2014/main" id="{A999724F-F049-44FA-B652-374AD3F1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13 / 验收建议</a:t>
            </a:r>
          </a:p>
        </p:txBody>
      </p:sp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42852329-EE9A-4768-9B7C-3D3FD1FE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验收围绕闭环、准确、安全和可运行，不以页面数量代替质量</a:t>
            </a:r>
          </a:p>
        </p:txBody>
      </p:sp>
      <p:sp>
        <p:nvSpPr>
          <p:cNvPr id="4" name="title-rule-14">
            <a:extLst xmlns:a="http://schemas.openxmlformats.org/drawingml/2006/main">
              <a:ext uri="{FF2B5EF4-FFF2-40B4-BE49-F238E27FC236}">
                <a16:creationId xmlns:a16="http://schemas.microsoft.com/office/drawing/2014/main" id="{39D1014E-BEE3-499B-8D48-99D6A569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5" name="footer-label-14">
            <a:extLst xmlns:a="http://schemas.openxmlformats.org/drawingml/2006/main">
              <a:ext uri="{FF2B5EF4-FFF2-40B4-BE49-F238E27FC236}">
                <a16:creationId xmlns:a16="http://schemas.microsoft.com/office/drawing/2014/main" id="{AA9C0D5F-737B-4DC8-8697-4EA05E0C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项目交流版 · 基于现有系统原型</a:t>
            </a:r>
          </a:p>
        </p:txBody>
      </p:sp>
      <p:sp>
        <p:nvSpPr>
          <p:cNvPr id="6" name="footer-page-14">
            <a:extLst xmlns:a="http://schemas.openxmlformats.org/drawingml/2006/main">
              <a:ext uri="{FF2B5EF4-FFF2-40B4-BE49-F238E27FC236}">
                <a16:creationId xmlns:a16="http://schemas.microsoft.com/office/drawing/2014/main" id="{D9618FDE-6E51-4F28-850A-E02A105C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7" name="acceptance-intro">
            <a:extLst xmlns:a="http://schemas.openxmlformats.org/drawingml/2006/main">
              <a:ext uri="{FF2B5EF4-FFF2-40B4-BE49-F238E27FC236}">
                <a16:creationId xmlns:a16="http://schemas.microsoft.com/office/drawing/2014/main" id="{E1D5C014-C3CD-4D63-BC5B-C074B4B3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661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173"/>
                </a:solidFill>
                <a:latin typeface="PingFang SC"/>
                <a:ea typeface="PingFang SC"/>
                <a:cs typeface="PingFang SC"/>
              </a:rPr>
              <a:t>建议在需求阶段冻结验收口径，并以联调记录和试运行数据作为证据。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362200"/>
          <a:ext xmlns:a="http://schemas.openxmlformats.org/drawingml/2006/main" cx="10820400" cy="31242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28750"/>
                <a:gridCol w="2857500"/>
                <a:gridCol w="4000500"/>
                <a:gridCol w="2533650"/>
              </a:tblGrid>
              <a:tr h="3905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114300" marR="114300" marT="66675" marB="66675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验收重点</a:t>
                      </a:r>
                    </a:p>
                  </a:txBody>
                  <a:tcPr marL="114300" marR="114300" marT="66675" marB="66675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建议口径</a:t>
                      </a:r>
                    </a:p>
                  </a:txBody>
                  <a:tcPr marL="114300" marR="114300" marT="66675" marB="66675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主要证据</a:t>
                      </a:r>
                    </a:p>
                  </a:txBody>
                  <a:tcPr marL="114300" marR="114300" marT="66675" marB="66675" anchor="ctr">
                    <a:solidFill>
                      <a:srgbClr val="0B1220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D8D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功能闭环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状态机与流程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合同范围通过测试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用例 / 记录</a:t>
                      </a:r>
                    </a:p>
                  </a:txBody>
                  <a:tcPr marL="114300" marR="114300" marT="57150" marB="57150" anchor="ctr"/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D8D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数据准确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主数据与指标口径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与确认样本一致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对账报告</a:t>
                      </a:r>
                    </a:p>
                  </a:txBody>
                  <a:tcPr marL="114300" marR="114300" marT="57150" marB="57150" anchor="ctr"/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D8D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权限安全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角色 / 数据范围 / 附件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权限测试全部通过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权限矩阵</a:t>
                      </a:r>
                    </a:p>
                  </a:txBody>
                  <a:tcPr marL="114300" marR="114300" marT="57150" marB="57150" anchor="ctr"/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D8D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性能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常用查询与操作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P95 查询 ≤ 2 秒*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性能报告</a:t>
                      </a:r>
                    </a:p>
                  </a:txBody>
                  <a:tcPr marL="114300" marR="114300" marT="57150" marB="57150" anchor="ctr"/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D8D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实时性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告警与任务推送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平台接收后 3 秒内*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联调日志</a:t>
                      </a:r>
                    </a:p>
                  </a:txBody>
                  <a:tcPr marL="114300" marR="114300" marT="57150" marB="57150" anchor="ctr"/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D8D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可用性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生产系统稳定运行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建议月可用性 99.5%*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运维报表</a:t>
                      </a:r>
                    </a:p>
                  </a:txBody>
                  <a:tcPr marL="114300" marR="114300" marT="57150" marB="57150" anchor="ctr"/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D8D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文档培训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文档完整 / 掌握操作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文档签收、培训考核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签收记录</a:t>
                      </a:r>
                    </a:p>
                  </a:txBody>
                  <a:tcPr marL="114300" marR="114300" marT="57150" marB="57150" anchor="ctr"/>
                </a:tc>
              </a:tr>
            </a:tbl>
          </a:graphicData>
        </a:graphic>
      </p:graphicFrame>
      <p:sp>
        <p:nvSpPr>
          <p:cNvPr id="9" name="acceptance-note">
            <a:extLst xmlns:a="http://schemas.openxmlformats.org/drawingml/2006/main">
              <a:ext uri="{FF2B5EF4-FFF2-40B4-BE49-F238E27FC236}">
                <a16:creationId xmlns:a16="http://schemas.microsoft.com/office/drawing/2014/main" id="{18123B43-77E2-4919-8D30-C978B797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B849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B8494"/>
                </a:solidFill>
                <a:latin typeface="PingFang SC"/>
                <a:ea typeface="PingFang SC"/>
                <a:cs typeface="PingFang SC"/>
              </a:rPr>
              <a:t>* 性能、实时性、可用性指标须结合甲方基础设施、网络和数据规模确认。</a:t>
            </a:r>
          </a:p>
        </p:txBody>
      </p:sp>
    </p:spTree>
    <p:extLst>
      <p:ext uri="{BB962C8B-B14F-4D97-AF65-F5344CB8AC3E}">
        <p14:creationId xmlns:p14="http://schemas.microsoft.com/office/powerpoint/2010/main" val="16398303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ing-accent">
            <a:extLst xmlns:a="http://schemas.openxmlformats.org/drawingml/2006/main">
              <a:ext uri="{FF2B5EF4-FFF2-40B4-BE49-F238E27FC236}">
                <a16:creationId xmlns:a16="http://schemas.microsoft.com/office/drawing/2014/main" id="{BED6999E-F764-42A6-9450-90FCCAAD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3F99F881-3251-4DE5-AFF2-9BD5E994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NEXT STEP</a:t>
            </a:r>
          </a:p>
        </p:txBody>
      </p:sp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8736A2EB-5B1C-4BD5-8567-D7B17068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429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联合确认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一期范围</a:t>
            </a:r>
          </a:p>
        </p:txBody>
      </p:sp>
      <p:sp>
        <p:nvSpPr>
          <p:cNvPr id="4" name="closing-sub">
            <a:extLst xmlns:a="http://schemas.openxmlformats.org/drawingml/2006/main">
              <a:ext uri="{FF2B5EF4-FFF2-40B4-BE49-F238E27FC236}">
                <a16:creationId xmlns:a16="http://schemas.microsoft.com/office/drawing/2014/main" id="{111759CB-1D1E-48F9-99A4-EC118523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D9E2E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9E2EF"/>
                </a:solidFill>
                <a:latin typeface="PingFang SC"/>
                <a:ea typeface="PingFang SC"/>
                <a:cs typeface="PingFang SC"/>
              </a:rPr>
              <a:t>形成可实施、可联调、可验收的项目基线</a:t>
            </a:r>
          </a:p>
        </p:txBody>
      </p:sp>
      <p:sp>
        <p:nvSpPr>
          <p:cNvPr id="5" name="closing-card-0">
            <a:extLst xmlns:a="http://schemas.openxmlformats.org/drawingml/2006/main">
              <a:ext uri="{FF2B5EF4-FFF2-40B4-BE49-F238E27FC236}">
                <a16:creationId xmlns:a16="http://schemas.microsoft.com/office/drawing/2014/main" id="{85178DB1-3F53-412D-84D3-3D1F20B3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47800"/>
            <a:ext cx="46291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32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ing-index-0">
            <a:extLst xmlns:a="http://schemas.openxmlformats.org/drawingml/2006/main">
              <a:ext uri="{FF2B5EF4-FFF2-40B4-BE49-F238E27FC236}">
                <a16:creationId xmlns:a16="http://schemas.microsoft.com/office/drawing/2014/main" id="{BF786341-32EB-466E-8E74-B9B48D95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764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losing-step-0">
            <a:extLst xmlns:a="http://schemas.openxmlformats.org/drawingml/2006/main">
              <a:ext uri="{FF2B5EF4-FFF2-40B4-BE49-F238E27FC236}">
                <a16:creationId xmlns:a16="http://schemas.microsoft.com/office/drawing/2014/main" id="{A44ECA58-D09C-462D-8F71-5DC12FA2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57350"/>
            <a:ext cx="354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冻结需求规格与端到端业务闭环</a:t>
            </a:r>
          </a:p>
        </p:txBody>
      </p:sp>
      <p:sp>
        <p:nvSpPr>
          <p:cNvPr id="8" name="closing-card-1">
            <a:extLst xmlns:a="http://schemas.openxmlformats.org/drawingml/2006/main">
              <a:ext uri="{FF2B5EF4-FFF2-40B4-BE49-F238E27FC236}">
                <a16:creationId xmlns:a16="http://schemas.microsoft.com/office/drawing/2014/main" id="{A89195EA-0918-4A9F-BFD3-65C5BC51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43200"/>
            <a:ext cx="46291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32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losing-index-1">
            <a:extLst xmlns:a="http://schemas.openxmlformats.org/drawingml/2006/main">
              <a:ext uri="{FF2B5EF4-FFF2-40B4-BE49-F238E27FC236}">
                <a16:creationId xmlns:a16="http://schemas.microsoft.com/office/drawing/2014/main" id="{F4271E25-79D0-44B5-8B9E-C9E954C5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718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losing-step-1">
            <a:extLst xmlns:a="http://schemas.openxmlformats.org/drawingml/2006/main">
              <a:ext uri="{FF2B5EF4-FFF2-40B4-BE49-F238E27FC236}">
                <a16:creationId xmlns:a16="http://schemas.microsoft.com/office/drawing/2014/main" id="{BE8241B5-1C2E-4943-A667-4595A646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52750"/>
            <a:ext cx="354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明确外部接口、主数据和部署边界</a:t>
            </a:r>
          </a:p>
        </p:txBody>
      </p:sp>
      <p:sp>
        <p:nvSpPr>
          <p:cNvPr id="11" name="closing-card-2">
            <a:extLst xmlns:a="http://schemas.openxmlformats.org/drawingml/2006/main">
              <a:ext uri="{FF2B5EF4-FFF2-40B4-BE49-F238E27FC236}">
                <a16:creationId xmlns:a16="http://schemas.microsoft.com/office/drawing/2014/main" id="{36941310-3A43-40A8-BC6E-457A09DE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38600"/>
            <a:ext cx="46291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32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losing-index-2">
            <a:extLst xmlns:a="http://schemas.openxmlformats.org/drawingml/2006/main">
              <a:ext uri="{FF2B5EF4-FFF2-40B4-BE49-F238E27FC236}">
                <a16:creationId xmlns:a16="http://schemas.microsoft.com/office/drawing/2014/main" id="{43761077-C5E2-4BCD-82DE-BA6C2934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672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closing-step-2">
            <a:extLst xmlns:a="http://schemas.openxmlformats.org/drawingml/2006/main">
              <a:ext uri="{FF2B5EF4-FFF2-40B4-BE49-F238E27FC236}">
                <a16:creationId xmlns:a16="http://schemas.microsoft.com/office/drawing/2014/main" id="{6D51294D-3372-45F3-B6FB-8E513577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48150"/>
            <a:ext cx="354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共同确认验收口径、试点范围与项目组织</a:t>
            </a:r>
          </a:p>
        </p:txBody>
      </p:sp>
      <p:sp>
        <p:nvSpPr>
          <p:cNvPr id="14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7D13174D-D8D0-4F3E-884A-7774B8EF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2516B"/>
            </a:solidFill>
            <a:prstDash val="solid"/>
          </a:ln>
        </p:spPr>
      </p:sp>
      <p:sp>
        <p:nvSpPr>
          <p:cNvPr id="15" name="closing-footer">
            <a:extLst xmlns:a="http://schemas.openxmlformats.org/drawingml/2006/main">
              <a:ext uri="{FF2B5EF4-FFF2-40B4-BE49-F238E27FC236}">
                <a16:creationId xmlns:a16="http://schemas.microsoft.com/office/drawing/2014/main" id="{B76D534B-09CF-4A2E-8E39-6E30140D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8FA0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FA0B8"/>
                </a:solidFill>
                <a:latin typeface="PingFang SC"/>
                <a:ea typeface="PingFang SC"/>
                <a:cs typeface="PingFang SC"/>
              </a:rPr>
              <a:t>炼化企业 QHSE 风险联动平台 · 项目交流版</a:t>
            </a:r>
          </a:p>
        </p:txBody>
      </p:sp>
      <p:sp>
        <p:nvSpPr>
          <p:cNvPr id="16" name="closing-page">
            <a:extLst xmlns:a="http://schemas.openxmlformats.org/drawingml/2006/main">
              <a:ext uri="{FF2B5EF4-FFF2-40B4-BE49-F238E27FC236}">
                <a16:creationId xmlns:a16="http://schemas.microsoft.com/office/drawing/2014/main" id="{0291E883-F309-4909-9591-A2F97CA3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150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854177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2026-07-14T03:11:25.4560000Z</dcterms:created>
  <dcterms:modified xsi:type="dcterms:W3CDTF">2026-07-14T03:11:25.4560000Z</dcterms:modified>
</coreProperties>
</file>